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explains the memory model with three real examples. KSA keeps its preferences private. Cooklist keeps its own and borrows a few of KSA's. Meal Planner keeps nothing and only reads what it is allowed to. Everything else in the deck follows from those three shapes.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words carry the whole model: own, share, enforce. An agent owns what it declares. Nothing is shared until the owner says yes, preference by preference. And the rules are not left to each agent's prompt; the platform checks every read and every write.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KSA is the shopping assistant: it owns the customer's shopping preferences and keeps them private. Cooklist owns cooking preferences and borrows a few from KSA. Meal Planner owns nothing; it only reads what KSA's owner allowed. All three run on the same platform. The difference is only in what they declare and what they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KSA holds six preferences for the customer. Cooklist asked for three and was approved for two; it may also update them, so when the customer tells Cooklist a new organic brand, KSA sees the change. Meal Planner asked for three and got two, read-only. Health data like allergies can be shared for reading, but no other agent can ever write it. Anything not approved simply doesn't exist from that agent's point of 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Canonical preferences are the backbone: a fixed list of typed fields, like organic brand or dietary restriction. The agent's model decides which field a statement belongs to, but it can't add fields. Dynamic memory catches useful facts that don't fit a field, and only within approved topics such as shopping or fulfillment. A consumer-only agent declares neither.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Owners classify each preference when they create it. The platform then does the rest: sensitive values must come from the customer, restricted content never gets stored, and health data has its own confirmation and consent flow. Worth saying out loud: the Privacy Standard has four tiers and a restricted tier that can be stored with Privacy Office approval; mapping that onto these three levels is an open item.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governance moment. A request names individual preferences and says whether the agent wants to read them or also write them. The owner sees one tickbox per preference and can approve some and deny others. The agent only ever sees what was approved, and revoking takes effect on the next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answers the brand question from the business. The customer tells Cooklist; the value is written into KSA's own schema, checked against KSA's rules, and KSA reads it back next time. There is never a second copy to fall out of sync. The guardrails keep it narrow: specific approved preferences, customer-stated values only, no health data, and every such write is marked in the logs.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checks sit in the platform, not in each agent. That matters because the agent's model decides what to save, and models make mistakes. Whatever the model tries, the platform only returns approved preferences, refuses restricted content, and logs every decision so it can be audited.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new schema version can only add preferences, so nothing that other agents depend on disappears under them. Because approvals list individual preferences, a new field is never quietly handed to other agents; they have to ask. That's also why a breaking change, like removing a field, isn't possible in this flow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is set up from the admin console's Create Memory Setup wizard. The wizard recognises a consumer-only agent by itself when every ticked preference belongs to another team, and skips the steps it doesn't need. The approval then happens in one place, preference by preference.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what is not settled, so nobody walks away thinking it's all done. The first is a small follow-up. The privacy items need Legal. The last is an ownership question for the business: whether facts every agent uses, like diet and allergies, should live in a shared customer profile rather than in KSA.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spc="200" kern="0" dirty="0">
                <a:solidFill>
                  <a:srgbClr val="8FB4F5"/>
                </a:solidFill>
                <a:latin typeface="Rubik" pitchFamily="34" charset="0"/>
                <a:ea typeface="Rubik" pitchFamily="34" charset="-122"/>
                <a:cs typeface="Rubik" pitchFamily="34" charset="-120"/>
              </a:rPr>
              <a:t>GOVERNED CUSTOMER MEMORY</a:t>
            </a:r>
            <a:endParaRPr lang="en-US" sz="1500" dirty="0"/>
          </a:p>
        </p:txBody>
      </p:sp>
      <p:sp>
        <p:nvSpPr>
          <p:cNvPr id="3" name="Text 1"/>
          <p:cNvSpPr/>
          <p:nvPr/>
        </p:nvSpPr>
        <p:spPr>
          <a:xfrm>
            <a:off x="812800" y="2496820"/>
            <a:ext cx="10883392" cy="772160"/>
          </a:xfrm>
          <a:prstGeom prst="rect">
            <a:avLst/>
          </a:prstGeom>
          <a:noFill/>
          <a:ln/>
        </p:spPr>
        <p:txBody>
          <a:bodyPr wrap="square" lIns="0" tIns="0" rIns="0" bIns="0" rtlCol="0" anchor="t">
            <a:normAutofit/>
          </a:bodyPr>
          <a:lstStyle/>
          <a:p>
            <a:pPr algn="l" indent="0" marL="0">
              <a:lnSpc>
                <a:spcPts val="5880"/>
              </a:lnSpc>
              <a:buNone/>
            </a:pPr>
            <a:r>
              <a:rPr lang="en-US" sz="5600" b="1" dirty="0">
                <a:solidFill>
                  <a:srgbClr val="F7F6F2"/>
                </a:solidFill>
                <a:latin typeface="Rubik" pitchFamily="34" charset="0"/>
                <a:ea typeface="Rubik" pitchFamily="34" charset="-122"/>
                <a:cs typeface="Rubik" pitchFamily="34" charset="-120"/>
              </a:rPr>
              <a:t>Three agent models</a:t>
            </a:r>
            <a:endParaRPr lang="en-US" sz="5600" dirty="0"/>
          </a:p>
        </p:txBody>
      </p:sp>
      <p:sp>
        <p:nvSpPr>
          <p:cNvPr id="4" name="Text 2"/>
          <p:cNvSpPr/>
          <p:nvPr/>
        </p:nvSpPr>
        <p:spPr>
          <a:xfrm>
            <a:off x="812800" y="3497580"/>
            <a:ext cx="8502650" cy="7112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C9D3E6"/>
                </a:solidFill>
                <a:latin typeface="IBM Plex Sans" pitchFamily="34" charset="0"/>
                <a:ea typeface="IBM Plex Sans" pitchFamily="34" charset="-122"/>
                <a:cs typeface="IBM Plex Sans" pitchFamily="34" charset="-120"/>
              </a:rPr>
              <a:t>How agents own customer preferences, share them only by approval, and stay inside the privacy rules</a:t>
            </a:r>
            <a:endParaRPr lang="en-US" sz="2000" dirty="0"/>
          </a:p>
        </p:txBody>
      </p:sp>
      <p:sp>
        <p:nvSpPr>
          <p:cNvPr id="5" name="Shape 3"/>
          <p:cNvSpPr/>
          <p:nvPr/>
        </p:nvSpPr>
        <p:spPr>
          <a:xfrm>
            <a:off x="812800" y="5600700"/>
            <a:ext cx="1600279" cy="444500"/>
          </a:xfrm>
          <a:prstGeom prst="roundRect">
            <a:avLst>
              <a:gd name="adj" fmla="val 50000"/>
            </a:avLst>
          </a:prstGeom>
          <a:solidFill>
            <a:srgbClr val="2F6FDE"/>
          </a:solidFill>
          <a:ln/>
        </p:spPr>
      </p:sp>
      <p:sp>
        <p:nvSpPr>
          <p:cNvPr id="6" name="Text 4"/>
          <p:cNvSpPr/>
          <p:nvPr/>
        </p:nvSpPr>
        <p:spPr>
          <a:xfrm>
            <a:off x="1016000" y="5689600"/>
            <a:ext cx="1244679"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7F6F2"/>
                </a:solidFill>
                <a:latin typeface="Rubik" pitchFamily="34" charset="0"/>
                <a:ea typeface="Rubik" pitchFamily="34" charset="-122"/>
                <a:cs typeface="Rubik" pitchFamily="34" charset="-120"/>
              </a:rPr>
              <a:t>KSA · Private</a:t>
            </a:r>
            <a:endParaRPr lang="en-US" sz="1500" dirty="0"/>
          </a:p>
        </p:txBody>
      </p:sp>
      <p:sp>
        <p:nvSpPr>
          <p:cNvPr id="7" name="Shape 5"/>
          <p:cNvSpPr/>
          <p:nvPr/>
        </p:nvSpPr>
        <p:spPr>
          <a:xfrm>
            <a:off x="2565479" y="5600700"/>
            <a:ext cx="1939211" cy="444500"/>
          </a:xfrm>
          <a:prstGeom prst="roundRect">
            <a:avLst>
              <a:gd name="adj" fmla="val 50000"/>
            </a:avLst>
          </a:prstGeom>
          <a:solidFill>
            <a:srgbClr val="E8913A"/>
          </a:solidFill>
          <a:ln/>
        </p:spPr>
      </p:sp>
      <p:sp>
        <p:nvSpPr>
          <p:cNvPr id="8" name="Text 6"/>
          <p:cNvSpPr/>
          <p:nvPr/>
        </p:nvSpPr>
        <p:spPr>
          <a:xfrm>
            <a:off x="2768679" y="5689600"/>
            <a:ext cx="1583611"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Rubik" pitchFamily="34" charset="0"/>
                <a:ea typeface="Rubik" pitchFamily="34" charset="-122"/>
                <a:cs typeface="Rubik" pitchFamily="34" charset="-120"/>
              </a:rPr>
              <a:t>Cooklist · Hybrid</a:t>
            </a:r>
            <a:endParaRPr lang="en-US" sz="1500" dirty="0"/>
          </a:p>
        </p:txBody>
      </p:sp>
      <p:sp>
        <p:nvSpPr>
          <p:cNvPr id="9" name="Shape 7"/>
          <p:cNvSpPr/>
          <p:nvPr/>
        </p:nvSpPr>
        <p:spPr>
          <a:xfrm>
            <a:off x="4657090" y="5600700"/>
            <a:ext cx="3142615" cy="444500"/>
          </a:xfrm>
          <a:prstGeom prst="roundRect">
            <a:avLst>
              <a:gd name="adj" fmla="val 50000"/>
            </a:avLst>
          </a:prstGeom>
          <a:solidFill>
            <a:srgbClr val="C9D3E6"/>
          </a:solidFill>
          <a:ln/>
        </p:spPr>
      </p:sp>
      <p:sp>
        <p:nvSpPr>
          <p:cNvPr id="10" name="Text 8"/>
          <p:cNvSpPr/>
          <p:nvPr/>
        </p:nvSpPr>
        <p:spPr>
          <a:xfrm>
            <a:off x="4860290" y="5689600"/>
            <a:ext cx="2818301"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Rubik" pitchFamily="34" charset="0"/>
                <a:ea typeface="Rubik" pitchFamily="34" charset="-122"/>
                <a:cs typeface="Rubik" pitchFamily="34" charset="-120"/>
              </a:rPr>
              <a:t>Meal Planner · Consumer only</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6FDE"/>
                </a:solidFill>
                <a:latin typeface="Rubik" pitchFamily="34" charset="0"/>
                <a:ea typeface="Rubik" pitchFamily="34" charset="-122"/>
                <a:cs typeface="Rubik" pitchFamily="34" charset="-120"/>
              </a:rPr>
              <a:t>THE IDEA</a:t>
            </a:r>
            <a:endParaRPr lang="en-US" sz="1200" dirty="0"/>
          </a:p>
        </p:txBody>
      </p:sp>
      <p:sp>
        <p:nvSpPr>
          <p:cNvPr id="3" name="Text 1"/>
          <p:cNvSpPr/>
          <p:nvPr/>
        </p:nvSpPr>
        <p:spPr>
          <a:xfrm>
            <a:off x="812800" y="1127760"/>
            <a:ext cx="10883392" cy="9194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Rubik" pitchFamily="34" charset="0"/>
                <a:ea typeface="Rubik" pitchFamily="34" charset="-122"/>
                <a:cs typeface="Rubik" pitchFamily="34" charset="-120"/>
              </a:rPr>
              <a:t>Memory belongs to an agent. Sharing is a decision, not a default.</a:t>
            </a:r>
            <a:endParaRPr lang="en-US" sz="3200" dirty="0"/>
          </a:p>
        </p:txBody>
      </p:sp>
      <p:sp>
        <p:nvSpPr>
          <p:cNvPr id="4" name="Shape 2"/>
          <p:cNvSpPr/>
          <p:nvPr/>
        </p:nvSpPr>
        <p:spPr>
          <a:xfrm>
            <a:off x="815975" y="2380615"/>
            <a:ext cx="3380264" cy="2645410"/>
          </a:xfrm>
          <a:prstGeom prst="roundRect">
            <a:avLst>
              <a:gd name="adj" fmla="val 4681"/>
            </a:avLst>
          </a:prstGeom>
          <a:solidFill>
            <a:srgbClr val="FFFFFF"/>
          </a:solidFill>
          <a:ln w="6350">
            <a:solidFill>
              <a:srgbClr val="DDE2EA"/>
            </a:solidFill>
            <a:prstDash val="solid"/>
          </a:ln>
        </p:spPr>
      </p:sp>
      <p:pic>
        <p:nvPicPr>
          <p:cNvPr id="5" name="Image 0" descr="Home">    </p:cNvPr>
          <p:cNvPicPr>
            <a:picLocks noChangeAspect="1"/>
          </p:cNvPicPr>
          <p:nvPr/>
        </p:nvPicPr>
        <p:blipFill>
          <a:blip r:embed="rId1"/>
          <a:srcRect l="0" r="0" t="0" b="0"/>
          <a:stretch/>
        </p:blipFill>
        <p:spPr>
          <a:xfrm>
            <a:off x="1122680" y="2687320"/>
            <a:ext cx="406400" cy="406400"/>
          </a:xfrm>
          <a:prstGeom prst="rect">
            <a:avLst/>
          </a:prstGeom>
        </p:spPr>
      </p:pic>
      <p:sp>
        <p:nvSpPr>
          <p:cNvPr id="6" name="Text 3"/>
          <p:cNvSpPr/>
          <p:nvPr/>
        </p:nvSpPr>
        <p:spPr>
          <a:xfrm>
            <a:off x="1122680" y="3220720"/>
            <a:ext cx="284985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Rubik" pitchFamily="34" charset="0"/>
                <a:ea typeface="Rubik" pitchFamily="34" charset="-122"/>
                <a:cs typeface="Rubik" pitchFamily="34" charset="-120"/>
              </a:rPr>
              <a:t>1 · Own</a:t>
            </a:r>
            <a:endParaRPr lang="en-US" sz="2000" dirty="0"/>
          </a:p>
        </p:txBody>
      </p:sp>
      <p:sp>
        <p:nvSpPr>
          <p:cNvPr id="7" name="Text 4"/>
          <p:cNvSpPr/>
          <p:nvPr/>
        </p:nvSpPr>
        <p:spPr>
          <a:xfrm>
            <a:off x="1122680" y="3652520"/>
            <a:ext cx="2849859"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F4A5E"/>
                </a:solidFill>
                <a:latin typeface="IBM Plex Sans" pitchFamily="34" charset="0"/>
                <a:ea typeface="IBM Plex Sans" pitchFamily="34" charset="-122"/>
                <a:cs typeface="IBM Plex Sans" pitchFamily="34" charset="-120"/>
              </a:rPr>
              <a:t>Each agent declares the preferences it keeps, and classifies each one's sensitivity.</a:t>
            </a:r>
            <a:endParaRPr lang="en-US" sz="1500" dirty="0"/>
          </a:p>
        </p:txBody>
      </p:sp>
      <p:sp>
        <p:nvSpPr>
          <p:cNvPr id="8" name="Shape 5"/>
          <p:cNvSpPr/>
          <p:nvPr/>
        </p:nvSpPr>
        <p:spPr>
          <a:xfrm>
            <a:off x="4405789" y="2380615"/>
            <a:ext cx="3380343" cy="2645410"/>
          </a:xfrm>
          <a:prstGeom prst="roundRect">
            <a:avLst>
              <a:gd name="adj" fmla="val 4681"/>
            </a:avLst>
          </a:prstGeom>
          <a:solidFill>
            <a:srgbClr val="FFFFFF"/>
          </a:solidFill>
          <a:ln w="6350">
            <a:solidFill>
              <a:srgbClr val="DDE2EA"/>
            </a:solidFill>
            <a:prstDash val="solid"/>
          </a:ln>
        </p:spPr>
      </p:sp>
      <p:pic>
        <p:nvPicPr>
          <p:cNvPr id="9" name="Image 1" descr="Key">    </p:cNvPr>
          <p:cNvPicPr>
            <a:picLocks noChangeAspect="1"/>
          </p:cNvPicPr>
          <p:nvPr/>
        </p:nvPicPr>
        <p:blipFill>
          <a:blip r:embed="rId2"/>
          <a:srcRect l="0" r="0" t="0" b="0"/>
          <a:stretch/>
        </p:blipFill>
        <p:spPr>
          <a:xfrm>
            <a:off x="4712494" y="2687320"/>
            <a:ext cx="406400" cy="406400"/>
          </a:xfrm>
          <a:prstGeom prst="rect">
            <a:avLst/>
          </a:prstGeom>
        </p:spPr>
      </p:pic>
      <p:sp>
        <p:nvSpPr>
          <p:cNvPr id="10" name="Text 6"/>
          <p:cNvSpPr/>
          <p:nvPr/>
        </p:nvSpPr>
        <p:spPr>
          <a:xfrm>
            <a:off x="4712494" y="3220720"/>
            <a:ext cx="2849941"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Rubik" pitchFamily="34" charset="0"/>
                <a:ea typeface="Rubik" pitchFamily="34" charset="-122"/>
                <a:cs typeface="Rubik" pitchFamily="34" charset="-120"/>
              </a:rPr>
              <a:t>2 · Share by approval</a:t>
            </a:r>
            <a:endParaRPr lang="en-US" sz="2000" dirty="0"/>
          </a:p>
        </p:txBody>
      </p:sp>
      <p:sp>
        <p:nvSpPr>
          <p:cNvPr id="11" name="Text 7"/>
          <p:cNvSpPr/>
          <p:nvPr/>
        </p:nvSpPr>
        <p:spPr>
          <a:xfrm>
            <a:off x="4712494" y="3652520"/>
            <a:ext cx="2849941"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F4A5E"/>
                </a:solidFill>
                <a:latin typeface="IBM Plex Sans" pitchFamily="34" charset="0"/>
                <a:ea typeface="IBM Plex Sans" pitchFamily="34" charset="-122"/>
                <a:cs typeface="IBM Plex Sans" pitchFamily="34" charset="-120"/>
              </a:rPr>
              <a:t>Other agents request specific preferences, to read or also to write. The owner approves each one.</a:t>
            </a:r>
            <a:endParaRPr lang="en-US" sz="1500" dirty="0"/>
          </a:p>
        </p:txBody>
      </p:sp>
      <p:sp>
        <p:nvSpPr>
          <p:cNvPr id="12" name="Shape 8"/>
          <p:cNvSpPr/>
          <p:nvPr/>
        </p:nvSpPr>
        <p:spPr>
          <a:xfrm>
            <a:off x="7995682" y="2380615"/>
            <a:ext cx="3380343" cy="2645410"/>
          </a:xfrm>
          <a:prstGeom prst="roundRect">
            <a:avLst>
              <a:gd name="adj" fmla="val 4681"/>
            </a:avLst>
          </a:prstGeom>
          <a:solidFill>
            <a:srgbClr val="FFFFFF"/>
          </a:solidFill>
          <a:ln w="6350">
            <a:solidFill>
              <a:srgbClr val="DDE2EA"/>
            </a:solidFill>
            <a:prstDash val="solid"/>
          </a:ln>
        </p:spPr>
      </p:sp>
      <p:pic>
        <p:nvPicPr>
          <p:cNvPr id="13" name="Image 2" descr="Lock">    </p:cNvPr>
          <p:cNvPicPr>
            <a:picLocks noChangeAspect="1"/>
          </p:cNvPicPr>
          <p:nvPr/>
        </p:nvPicPr>
        <p:blipFill>
          <a:blip r:embed="rId3"/>
          <a:srcRect l="0" r="0" t="0" b="0"/>
          <a:stretch/>
        </p:blipFill>
        <p:spPr>
          <a:xfrm>
            <a:off x="8302387" y="2687320"/>
            <a:ext cx="406400" cy="406400"/>
          </a:xfrm>
          <a:prstGeom prst="rect">
            <a:avLst/>
          </a:prstGeom>
        </p:spPr>
      </p:pic>
      <p:sp>
        <p:nvSpPr>
          <p:cNvPr id="14" name="Text 9"/>
          <p:cNvSpPr/>
          <p:nvPr/>
        </p:nvSpPr>
        <p:spPr>
          <a:xfrm>
            <a:off x="8302387" y="3220720"/>
            <a:ext cx="2849941"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Rubik" pitchFamily="34" charset="0"/>
                <a:ea typeface="Rubik" pitchFamily="34" charset="-122"/>
                <a:cs typeface="Rubik" pitchFamily="34" charset="-120"/>
              </a:rPr>
              <a:t>3 · Enforce at runtime</a:t>
            </a:r>
            <a:endParaRPr lang="en-US" sz="2000" dirty="0"/>
          </a:p>
        </p:txBody>
      </p:sp>
      <p:sp>
        <p:nvSpPr>
          <p:cNvPr id="15" name="Text 10"/>
          <p:cNvSpPr/>
          <p:nvPr/>
        </p:nvSpPr>
        <p:spPr>
          <a:xfrm>
            <a:off x="8302387" y="3652520"/>
            <a:ext cx="2849941"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F4A5E"/>
                </a:solidFill>
                <a:latin typeface="IBM Plex Sans" pitchFamily="34" charset="0"/>
                <a:ea typeface="IBM Plex Sans" pitchFamily="34" charset="-122"/>
                <a:cs typeface="IBM Plex Sans" pitchFamily="34" charset="-120"/>
              </a:rPr>
              <a:t>The platform returns only approved preferences and blocks anything the rules forbid.</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6FDE"/>
                </a:solidFill>
                <a:latin typeface="Rubik" pitchFamily="34" charset="0"/>
                <a:ea typeface="Rubik" pitchFamily="34" charset="-122"/>
                <a:cs typeface="Rubik" pitchFamily="34" charset="-120"/>
              </a:rPr>
              <a:t>THE THREE MODELS</a:t>
            </a:r>
            <a:endParaRPr lang="en-US" sz="1200" dirty="0"/>
          </a:p>
        </p:txBody>
      </p:sp>
      <p:sp>
        <p:nvSpPr>
          <p:cNvPr id="3" name="Text 1"/>
          <p:cNvSpPr/>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Rubik" pitchFamily="34" charset="0"/>
                <a:ea typeface="Rubik" pitchFamily="34" charset="-122"/>
                <a:cs typeface="Rubik" pitchFamily="34" charset="-120"/>
              </a:rPr>
              <a:t>Same platform, three shapes of memory</a:t>
            </a:r>
            <a:endParaRPr lang="en-US" sz="3200" dirty="0"/>
          </a:p>
        </p:txBody>
      </p:sp>
      <p:sp>
        <p:nvSpPr>
          <p:cNvPr id="4" name="Shape 2"/>
          <p:cNvSpPr/>
          <p:nvPr/>
        </p:nvSpPr>
        <p:spPr>
          <a:xfrm>
            <a:off x="815975" y="1882775"/>
            <a:ext cx="3380264" cy="3094990"/>
          </a:xfrm>
          <a:prstGeom prst="roundRect">
            <a:avLst>
              <a:gd name="adj" fmla="val 4001"/>
            </a:avLst>
          </a:prstGeom>
          <a:solidFill>
            <a:srgbClr val="FFFFFF"/>
          </a:solidFill>
          <a:ln w="6350">
            <a:solidFill>
              <a:srgbClr val="DDE2EA"/>
            </a:solidFill>
            <a:prstDash val="solid"/>
          </a:ln>
        </p:spPr>
      </p:sp>
      <p:sp>
        <p:nvSpPr>
          <p:cNvPr id="5" name="Shape 3"/>
          <p:cNvSpPr/>
          <p:nvPr/>
        </p:nvSpPr>
        <p:spPr>
          <a:xfrm>
            <a:off x="817880" y="1884680"/>
            <a:ext cx="3376454" cy="1016000"/>
          </a:xfrm>
          <a:custGeom>
            <a:avLst/>
            <a:gdLst/>
            <a:ahLst/>
            <a:cxnLst/>
            <a:rect l="l" t="t" r="r" b="b"/>
            <a:pathLst>
              <a:path w="3376454" h="1016000">
                <a:moveTo>
                  <a:pt x="0" y="121920"/>
                </a:moveTo>
                <a:arcTo hR="121920" wR="121920" stAng="10800000" swAng="5400000"/>
                <a:lnTo>
                  <a:pt x="3254534" y="0"/>
                </a:lnTo>
                <a:arcTo hR="121920" wR="121920" stAng="16200000" swAng="5400000"/>
                <a:lnTo>
                  <a:pt x="3376454" y="1016000"/>
                </a:lnTo>
                <a:lnTo>
                  <a:pt x="0" y="1016000"/>
                </a:lnTo>
                <a:close/>
              </a:path>
            </a:pathLst>
          </a:custGeom>
          <a:solidFill>
            <a:srgbClr val="2F6FDE"/>
          </a:solidFill>
          <a:ln/>
        </p:spPr>
      </p:sp>
      <p:sp>
        <p:nvSpPr>
          <p:cNvPr id="6" name="Text 4"/>
          <p:cNvSpPr/>
          <p:nvPr/>
        </p:nvSpPr>
        <p:spPr>
          <a:xfrm>
            <a:off x="1071880" y="2087880"/>
            <a:ext cx="2954507"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7F6F2"/>
                </a:solidFill>
                <a:latin typeface="Rubik" pitchFamily="34" charset="0"/>
                <a:ea typeface="Rubik" pitchFamily="34" charset="-122"/>
                <a:cs typeface="Rubik" pitchFamily="34" charset="-120"/>
              </a:rPr>
              <a:t>KSA</a:t>
            </a:r>
            <a:endParaRPr lang="en-US" sz="2200" dirty="0"/>
          </a:p>
        </p:txBody>
      </p:sp>
      <p:sp>
        <p:nvSpPr>
          <p:cNvPr id="7" name="Text 5"/>
          <p:cNvSpPr/>
          <p:nvPr/>
        </p:nvSpPr>
        <p:spPr>
          <a:xfrm>
            <a:off x="1071880" y="2448561"/>
            <a:ext cx="2954507"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4ECFB"/>
                </a:solidFill>
                <a:latin typeface="IBM Plex Sans" pitchFamily="34" charset="0"/>
                <a:ea typeface="IBM Plex Sans" pitchFamily="34" charset="-122"/>
                <a:cs typeface="IBM Plex Sans" pitchFamily="34" charset="-120"/>
              </a:rPr>
              <a:t>Private</a:t>
            </a:r>
            <a:endParaRPr lang="en-US" sz="1400" dirty="0"/>
          </a:p>
        </p:txBody>
      </p:sp>
      <p:sp>
        <p:nvSpPr>
          <p:cNvPr id="8" name="Text 6"/>
          <p:cNvSpPr/>
          <p:nvPr/>
        </p:nvSpPr>
        <p:spPr>
          <a:xfrm>
            <a:off x="1071880" y="3103880"/>
            <a:ext cx="2954507" cy="50546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4213D"/>
                </a:solidFill>
                <a:latin typeface="IBM Plex Sans" pitchFamily="34" charset="0"/>
                <a:ea typeface="IBM Plex Sans" pitchFamily="34" charset="-122"/>
                <a:cs typeface="IBM Plex Sans" pitchFamily="34" charset="-120"/>
              </a:rPr>
              <a:t>Keeps its own:</a:t>
            </a:r>
            <a:r>
              <a:rPr lang="en-US" sz="1400" dirty="0">
                <a:solidFill>
                  <a:srgbClr val="14213D"/>
                </a:solidFill>
                <a:latin typeface="IBM Plex Sans" pitchFamily="34" charset="0"/>
                <a:ea typeface="IBM Plex Sans" pitchFamily="34" charset="-122"/>
                <a:cs typeface="IBM Plex Sans" pitchFamily="34" charset="-120"/>
              </a:rPr>
              <a:t> yes — store, brand, milk, delivery, diet, allergies</a:t>
            </a:r>
            <a:endParaRPr lang="en-US" sz="1400" dirty="0"/>
          </a:p>
        </p:txBody>
      </p:sp>
      <p:sp>
        <p:nvSpPr>
          <p:cNvPr id="9" name="Text 7"/>
          <p:cNvSpPr/>
          <p:nvPr/>
        </p:nvSpPr>
        <p:spPr>
          <a:xfrm>
            <a:off x="1071880" y="3698241"/>
            <a:ext cx="2954507" cy="26543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4213D"/>
                </a:solidFill>
                <a:latin typeface="IBM Plex Sans" pitchFamily="34" charset="0"/>
                <a:ea typeface="IBM Plex Sans" pitchFamily="34" charset="-122"/>
                <a:cs typeface="IBM Plex Sans" pitchFamily="34" charset="-120"/>
              </a:rPr>
              <a:t>Reads others:</a:t>
            </a:r>
            <a:r>
              <a:rPr lang="en-US" sz="1400" dirty="0">
                <a:solidFill>
                  <a:srgbClr val="14213D"/>
                </a:solidFill>
                <a:latin typeface="IBM Plex Sans" pitchFamily="34" charset="0"/>
                <a:ea typeface="IBM Plex Sans" pitchFamily="34" charset="-122"/>
                <a:cs typeface="IBM Plex Sans" pitchFamily="34" charset="-120"/>
              </a:rPr>
              <a:t> no</a:t>
            </a:r>
            <a:endParaRPr lang="en-US" sz="1400" dirty="0"/>
          </a:p>
        </p:txBody>
      </p:sp>
      <p:sp>
        <p:nvSpPr>
          <p:cNvPr id="10" name="Text 8"/>
          <p:cNvSpPr/>
          <p:nvPr/>
        </p:nvSpPr>
        <p:spPr>
          <a:xfrm>
            <a:off x="1071880" y="4052570"/>
            <a:ext cx="2954507" cy="50546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4213D"/>
                </a:solidFill>
                <a:latin typeface="IBM Plex Sans" pitchFamily="34" charset="0"/>
                <a:ea typeface="IBM Plex Sans" pitchFamily="34" charset="-122"/>
                <a:cs typeface="IBM Plex Sans" pitchFamily="34" charset="-120"/>
              </a:rPr>
              <a:t>Shares:</a:t>
            </a:r>
            <a:r>
              <a:rPr lang="en-US" sz="1400" dirty="0">
                <a:solidFill>
                  <a:srgbClr val="14213D"/>
                </a:solidFill>
                <a:latin typeface="IBM Plex Sans" pitchFamily="34" charset="0"/>
                <a:ea typeface="IBM Plex Sans" pitchFamily="34" charset="-122"/>
                <a:cs typeface="IBM Plex Sans" pitchFamily="34" charset="-120"/>
              </a:rPr>
              <a:t> only what its owner approves</a:t>
            </a:r>
            <a:endParaRPr lang="en-US" sz="1400" dirty="0"/>
          </a:p>
        </p:txBody>
      </p:sp>
      <p:sp>
        <p:nvSpPr>
          <p:cNvPr id="11" name="Shape 9"/>
          <p:cNvSpPr/>
          <p:nvPr/>
        </p:nvSpPr>
        <p:spPr>
          <a:xfrm>
            <a:off x="4405789" y="1882775"/>
            <a:ext cx="3380343" cy="3094990"/>
          </a:xfrm>
          <a:prstGeom prst="roundRect">
            <a:avLst>
              <a:gd name="adj" fmla="val 4001"/>
            </a:avLst>
          </a:prstGeom>
          <a:solidFill>
            <a:srgbClr val="FFFFFF"/>
          </a:solidFill>
          <a:ln w="6350">
            <a:solidFill>
              <a:srgbClr val="DDE2EA"/>
            </a:solidFill>
            <a:prstDash val="solid"/>
          </a:ln>
        </p:spPr>
      </p:sp>
      <p:sp>
        <p:nvSpPr>
          <p:cNvPr id="12" name="Shape 10"/>
          <p:cNvSpPr/>
          <p:nvPr/>
        </p:nvSpPr>
        <p:spPr>
          <a:xfrm>
            <a:off x="4407694" y="1884680"/>
            <a:ext cx="3376533" cy="1016000"/>
          </a:xfrm>
          <a:custGeom>
            <a:avLst/>
            <a:gdLst/>
            <a:ahLst/>
            <a:cxnLst/>
            <a:rect l="l" t="t" r="r" b="b"/>
            <a:pathLst>
              <a:path w="3376533" h="1016000">
                <a:moveTo>
                  <a:pt x="0" y="121920"/>
                </a:moveTo>
                <a:arcTo hR="121920" wR="121920" stAng="10800000" swAng="5400000"/>
                <a:lnTo>
                  <a:pt x="3254613" y="0"/>
                </a:lnTo>
                <a:arcTo hR="121920" wR="121920" stAng="16200000" swAng="5400000"/>
                <a:lnTo>
                  <a:pt x="3376533" y="1016000"/>
                </a:lnTo>
                <a:lnTo>
                  <a:pt x="0" y="1016000"/>
                </a:lnTo>
                <a:close/>
              </a:path>
            </a:pathLst>
          </a:custGeom>
          <a:solidFill>
            <a:srgbClr val="E8913A"/>
          </a:solidFill>
          <a:ln/>
        </p:spPr>
      </p:sp>
      <p:sp>
        <p:nvSpPr>
          <p:cNvPr id="13" name="Text 11"/>
          <p:cNvSpPr/>
          <p:nvPr/>
        </p:nvSpPr>
        <p:spPr>
          <a:xfrm>
            <a:off x="4661694" y="2087880"/>
            <a:ext cx="2954589"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Rubik" pitchFamily="34" charset="0"/>
                <a:ea typeface="Rubik" pitchFamily="34" charset="-122"/>
                <a:cs typeface="Rubik" pitchFamily="34" charset="-120"/>
              </a:rPr>
              <a:t>Cooklist</a:t>
            </a:r>
            <a:endParaRPr lang="en-US" sz="2200" dirty="0"/>
          </a:p>
        </p:txBody>
      </p:sp>
      <p:sp>
        <p:nvSpPr>
          <p:cNvPr id="14" name="Text 12"/>
          <p:cNvSpPr/>
          <p:nvPr/>
        </p:nvSpPr>
        <p:spPr>
          <a:xfrm>
            <a:off x="4661694" y="2448561"/>
            <a:ext cx="2954589"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Hybrid</a:t>
            </a:r>
            <a:endParaRPr lang="en-US" sz="1400" dirty="0"/>
          </a:p>
        </p:txBody>
      </p:sp>
      <p:sp>
        <p:nvSpPr>
          <p:cNvPr id="15" name="Text 13"/>
          <p:cNvSpPr/>
          <p:nvPr/>
        </p:nvSpPr>
        <p:spPr>
          <a:xfrm>
            <a:off x="4661694" y="3103880"/>
            <a:ext cx="2954589" cy="50546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4213D"/>
                </a:solidFill>
                <a:latin typeface="IBM Plex Sans" pitchFamily="34" charset="0"/>
                <a:ea typeface="IBM Plex Sans" pitchFamily="34" charset="-122"/>
                <a:cs typeface="IBM Plex Sans" pitchFamily="34" charset="-120"/>
              </a:rPr>
              <a:t>Keeps its own:</a:t>
            </a:r>
            <a:r>
              <a:rPr lang="en-US" sz="1400" dirty="0">
                <a:solidFill>
                  <a:srgbClr val="14213D"/>
                </a:solidFill>
                <a:latin typeface="IBM Plex Sans" pitchFamily="34" charset="0"/>
                <a:ea typeface="IBM Plex Sans" pitchFamily="34" charset="-122"/>
                <a:cs typeface="IBM Plex Sans" pitchFamily="34" charset="-120"/>
              </a:rPr>
              <a:t> yes — prep time, cuisine, skill</a:t>
            </a:r>
            <a:endParaRPr lang="en-US" sz="1400" dirty="0"/>
          </a:p>
        </p:txBody>
      </p:sp>
      <p:sp>
        <p:nvSpPr>
          <p:cNvPr id="16" name="Text 14"/>
          <p:cNvSpPr/>
          <p:nvPr/>
        </p:nvSpPr>
        <p:spPr>
          <a:xfrm>
            <a:off x="4661694" y="3698241"/>
            <a:ext cx="2954589" cy="50546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4213D"/>
                </a:solidFill>
                <a:latin typeface="IBM Plex Sans" pitchFamily="34" charset="0"/>
                <a:ea typeface="IBM Plex Sans" pitchFamily="34" charset="-122"/>
                <a:cs typeface="IBM Plex Sans" pitchFamily="34" charset="-120"/>
              </a:rPr>
              <a:t>Reads others:</a:t>
            </a:r>
            <a:r>
              <a:rPr lang="en-US" sz="1400" dirty="0">
                <a:solidFill>
                  <a:srgbClr val="14213D"/>
                </a:solidFill>
                <a:latin typeface="IBM Plex Sans" pitchFamily="34" charset="0"/>
                <a:ea typeface="IBM Plex Sans" pitchFamily="34" charset="-122"/>
                <a:cs typeface="IBM Plex Sans" pitchFamily="34" charset="-120"/>
              </a:rPr>
              <a:t> selected KSA preferences</a:t>
            </a:r>
            <a:endParaRPr lang="en-US" sz="1400" dirty="0"/>
          </a:p>
        </p:txBody>
      </p:sp>
      <p:sp>
        <p:nvSpPr>
          <p:cNvPr id="17" name="Text 15"/>
          <p:cNvSpPr/>
          <p:nvPr/>
        </p:nvSpPr>
        <p:spPr>
          <a:xfrm>
            <a:off x="4661694" y="4292600"/>
            <a:ext cx="2954589" cy="50546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4213D"/>
                </a:solidFill>
                <a:latin typeface="IBM Plex Sans" pitchFamily="34" charset="0"/>
                <a:ea typeface="IBM Plex Sans" pitchFamily="34" charset="-122"/>
                <a:cs typeface="IBM Plex Sans" pitchFamily="34" charset="-120"/>
              </a:rPr>
              <a:t>Writes others:</a:t>
            </a:r>
            <a:r>
              <a:rPr lang="en-US" sz="1400" dirty="0">
                <a:solidFill>
                  <a:srgbClr val="14213D"/>
                </a:solidFill>
                <a:latin typeface="IBM Plex Sans" pitchFamily="34" charset="0"/>
                <a:ea typeface="IBM Plex Sans" pitchFamily="34" charset="-122"/>
                <a:cs typeface="IBM Plex Sans" pitchFamily="34" charset="-120"/>
              </a:rPr>
              <a:t> only if approved (e.g. organic brand)</a:t>
            </a:r>
            <a:endParaRPr lang="en-US" sz="1400" dirty="0"/>
          </a:p>
        </p:txBody>
      </p:sp>
      <p:sp>
        <p:nvSpPr>
          <p:cNvPr id="18" name="Shape 16"/>
          <p:cNvSpPr/>
          <p:nvPr/>
        </p:nvSpPr>
        <p:spPr>
          <a:xfrm>
            <a:off x="7995682" y="1882775"/>
            <a:ext cx="3380343" cy="3094990"/>
          </a:xfrm>
          <a:prstGeom prst="roundRect">
            <a:avLst>
              <a:gd name="adj" fmla="val 4001"/>
            </a:avLst>
          </a:prstGeom>
          <a:solidFill>
            <a:srgbClr val="FFFFFF"/>
          </a:solidFill>
          <a:ln w="6350">
            <a:solidFill>
              <a:srgbClr val="DDE2EA"/>
            </a:solidFill>
            <a:prstDash val="solid"/>
          </a:ln>
        </p:spPr>
      </p:sp>
      <p:sp>
        <p:nvSpPr>
          <p:cNvPr id="19" name="Shape 17"/>
          <p:cNvSpPr/>
          <p:nvPr/>
        </p:nvSpPr>
        <p:spPr>
          <a:xfrm>
            <a:off x="7997587" y="1884680"/>
            <a:ext cx="3376533" cy="1016000"/>
          </a:xfrm>
          <a:custGeom>
            <a:avLst/>
            <a:gdLst/>
            <a:ahLst/>
            <a:cxnLst/>
            <a:rect l="l" t="t" r="r" b="b"/>
            <a:pathLst>
              <a:path w="3376533" h="1016000">
                <a:moveTo>
                  <a:pt x="0" y="121920"/>
                </a:moveTo>
                <a:arcTo hR="121920" wR="121920" stAng="10800000" swAng="5400000"/>
                <a:lnTo>
                  <a:pt x="3254613" y="0"/>
                </a:lnTo>
                <a:arcTo hR="121920" wR="121920" stAng="16200000" swAng="5400000"/>
                <a:lnTo>
                  <a:pt x="3376533" y="1016000"/>
                </a:lnTo>
                <a:lnTo>
                  <a:pt x="0" y="1016000"/>
                </a:lnTo>
                <a:close/>
              </a:path>
            </a:pathLst>
          </a:custGeom>
          <a:solidFill>
            <a:srgbClr val="C9D3E6"/>
          </a:solidFill>
          <a:ln/>
        </p:spPr>
      </p:sp>
      <p:sp>
        <p:nvSpPr>
          <p:cNvPr id="20" name="Text 18"/>
          <p:cNvSpPr/>
          <p:nvPr/>
        </p:nvSpPr>
        <p:spPr>
          <a:xfrm>
            <a:off x="8251587" y="2087880"/>
            <a:ext cx="2954589"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Rubik" pitchFamily="34" charset="0"/>
                <a:ea typeface="Rubik" pitchFamily="34" charset="-122"/>
                <a:cs typeface="Rubik" pitchFamily="34" charset="-120"/>
              </a:rPr>
              <a:t>Meal Planner</a:t>
            </a:r>
            <a:endParaRPr lang="en-US" sz="2200" dirty="0"/>
          </a:p>
        </p:txBody>
      </p:sp>
      <p:sp>
        <p:nvSpPr>
          <p:cNvPr id="21" name="Text 19"/>
          <p:cNvSpPr/>
          <p:nvPr/>
        </p:nvSpPr>
        <p:spPr>
          <a:xfrm>
            <a:off x="8251587" y="2448561"/>
            <a:ext cx="2954589"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Consumer only</a:t>
            </a:r>
            <a:endParaRPr lang="en-US" sz="1400" dirty="0"/>
          </a:p>
        </p:txBody>
      </p:sp>
      <p:sp>
        <p:nvSpPr>
          <p:cNvPr id="22" name="Text 20"/>
          <p:cNvSpPr/>
          <p:nvPr/>
        </p:nvSpPr>
        <p:spPr>
          <a:xfrm>
            <a:off x="8251587" y="3103880"/>
            <a:ext cx="2954589" cy="26543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4213D"/>
                </a:solidFill>
                <a:latin typeface="IBM Plex Sans" pitchFamily="34" charset="0"/>
                <a:ea typeface="IBM Plex Sans" pitchFamily="34" charset="-122"/>
                <a:cs typeface="IBM Plex Sans" pitchFamily="34" charset="-120"/>
              </a:rPr>
              <a:t>Keeps its own:</a:t>
            </a:r>
            <a:r>
              <a:rPr lang="en-US" sz="1400" dirty="0">
                <a:solidFill>
                  <a:srgbClr val="14213D"/>
                </a:solidFill>
                <a:latin typeface="IBM Plex Sans" pitchFamily="34" charset="0"/>
                <a:ea typeface="IBM Plex Sans" pitchFamily="34" charset="-122"/>
                <a:cs typeface="IBM Plex Sans" pitchFamily="34" charset="-120"/>
              </a:rPr>
              <a:t> nothing</a:t>
            </a:r>
            <a:endParaRPr lang="en-US" sz="1400" dirty="0"/>
          </a:p>
        </p:txBody>
      </p:sp>
      <p:sp>
        <p:nvSpPr>
          <p:cNvPr id="23" name="Text 21"/>
          <p:cNvSpPr/>
          <p:nvPr/>
        </p:nvSpPr>
        <p:spPr>
          <a:xfrm>
            <a:off x="8251587" y="3458211"/>
            <a:ext cx="2954589" cy="50546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4213D"/>
                </a:solidFill>
                <a:latin typeface="IBM Plex Sans" pitchFamily="34" charset="0"/>
                <a:ea typeface="IBM Plex Sans" pitchFamily="34" charset="-122"/>
                <a:cs typeface="IBM Plex Sans" pitchFamily="34" charset="-120"/>
              </a:rPr>
              <a:t>Reads others:</a:t>
            </a:r>
            <a:r>
              <a:rPr lang="en-US" sz="1400" dirty="0">
                <a:solidFill>
                  <a:srgbClr val="14213D"/>
                </a:solidFill>
                <a:latin typeface="IBM Plex Sans" pitchFamily="34" charset="0"/>
                <a:ea typeface="IBM Plex Sans" pitchFamily="34" charset="-122"/>
                <a:cs typeface="IBM Plex Sans" pitchFamily="34" charset="-120"/>
              </a:rPr>
              <a:t> approved preferences only</a:t>
            </a:r>
            <a:endParaRPr lang="en-US" sz="1400" dirty="0"/>
          </a:p>
        </p:txBody>
      </p:sp>
      <p:sp>
        <p:nvSpPr>
          <p:cNvPr id="24" name="Text 22"/>
          <p:cNvSpPr/>
          <p:nvPr/>
        </p:nvSpPr>
        <p:spPr>
          <a:xfrm>
            <a:off x="8251587" y="4052570"/>
            <a:ext cx="2954589" cy="50546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4213D"/>
                </a:solidFill>
                <a:latin typeface="IBM Plex Sans" pitchFamily="34" charset="0"/>
                <a:ea typeface="IBM Plex Sans" pitchFamily="34" charset="-122"/>
                <a:cs typeface="IBM Plex Sans" pitchFamily="34" charset="-120"/>
              </a:rPr>
              <a:t>Writes:</a:t>
            </a:r>
            <a:r>
              <a:rPr lang="en-US" sz="1400" dirty="0">
                <a:solidFill>
                  <a:srgbClr val="14213D"/>
                </a:solidFill>
                <a:latin typeface="IBM Plex Sans" pitchFamily="34" charset="0"/>
                <a:ea typeface="IBM Plex Sans" pitchFamily="34" charset="-122"/>
                <a:cs typeface="IBM Plex Sans" pitchFamily="34" charset="-120"/>
              </a:rPr>
              <a:t> never — it can't save anything</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EF1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6FDE"/>
                </a:solidFill>
                <a:latin typeface="Rubik" pitchFamily="34" charset="0"/>
                <a:ea typeface="Rubik" pitchFamily="34" charset="-122"/>
                <a:cs typeface="Rubik" pitchFamily="34" charset="-120"/>
              </a:rPr>
              <a:t>HOW PREFERENCES FLOW</a:t>
            </a:r>
            <a:endParaRPr lang="en-US" sz="1200" dirty="0"/>
          </a:p>
        </p:txBody>
      </p:sp>
      <p:sp>
        <p:nvSpPr>
          <p:cNvPr id="3" name="Text 1"/>
          <p:cNvSpPr/>
          <p:nvPr/>
        </p:nvSpPr>
        <p:spPr>
          <a:xfrm>
            <a:off x="812800" y="1127761"/>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4213D"/>
                </a:solidFill>
                <a:latin typeface="Rubik" pitchFamily="34" charset="0"/>
                <a:ea typeface="Rubik" pitchFamily="34" charset="-122"/>
                <a:cs typeface="Rubik" pitchFamily="34" charset="-120"/>
              </a:rPr>
              <a:t>One customer, one value, approved paths only</a:t>
            </a:r>
            <a:endParaRPr lang="en-US" sz="3000" dirty="0"/>
          </a:p>
        </p:txBody>
      </p:sp>
      <p:sp>
        <p:nvSpPr>
          <p:cNvPr id="4" name="Shape 2"/>
          <p:cNvSpPr/>
          <p:nvPr/>
        </p:nvSpPr>
        <p:spPr>
          <a:xfrm>
            <a:off x="822325" y="1810386"/>
            <a:ext cx="3790950" cy="2663190"/>
          </a:xfrm>
          <a:prstGeom prst="roundRect">
            <a:avLst>
              <a:gd name="adj" fmla="val 4411"/>
            </a:avLst>
          </a:prstGeom>
          <a:solidFill>
            <a:srgbClr val="FFFFFF"/>
          </a:solidFill>
          <a:ln w="19050">
            <a:solidFill>
              <a:srgbClr val="2F6FDE"/>
            </a:solidFill>
            <a:prstDash val="solid"/>
          </a:ln>
        </p:spPr>
      </p:sp>
      <p:sp>
        <p:nvSpPr>
          <p:cNvPr id="5" name="Text 3"/>
          <p:cNvSpPr/>
          <p:nvPr/>
        </p:nvSpPr>
        <p:spPr>
          <a:xfrm>
            <a:off x="1056640" y="2044700"/>
            <a:ext cx="342199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F6FDE"/>
                </a:solidFill>
                <a:latin typeface="Rubik" pitchFamily="34" charset="0"/>
                <a:ea typeface="Rubik" pitchFamily="34" charset="-122"/>
                <a:cs typeface="Rubik" pitchFamily="34" charset="-120"/>
              </a:rPr>
              <a:t>KSA preferences</a:t>
            </a:r>
            <a:endParaRPr lang="en-US" sz="1800" dirty="0"/>
          </a:p>
        </p:txBody>
      </p:sp>
      <p:sp>
        <p:nvSpPr>
          <p:cNvPr id="6" name="Text 4"/>
          <p:cNvSpPr/>
          <p:nvPr/>
        </p:nvSpPr>
        <p:spPr>
          <a:xfrm>
            <a:off x="1056640" y="2407920"/>
            <a:ext cx="342199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preferred_store</a:t>
            </a:r>
            <a:endParaRPr lang="en-US" sz="1300" dirty="0"/>
          </a:p>
        </p:txBody>
      </p:sp>
      <p:sp>
        <p:nvSpPr>
          <p:cNvPr id="7" name="Text 5"/>
          <p:cNvSpPr/>
          <p:nvPr/>
        </p:nvSpPr>
        <p:spPr>
          <a:xfrm>
            <a:off x="1056640" y="2727961"/>
            <a:ext cx="342199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organic_brand</a:t>
            </a:r>
            <a:endParaRPr lang="en-US" sz="1300" dirty="0"/>
          </a:p>
        </p:txBody>
      </p:sp>
      <p:sp>
        <p:nvSpPr>
          <p:cNvPr id="8" name="Text 6"/>
          <p:cNvSpPr/>
          <p:nvPr/>
        </p:nvSpPr>
        <p:spPr>
          <a:xfrm>
            <a:off x="1056640" y="3048000"/>
            <a:ext cx="342199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preferred_milk</a:t>
            </a:r>
            <a:endParaRPr lang="en-US" sz="1300" dirty="0"/>
          </a:p>
        </p:txBody>
      </p:sp>
      <p:sp>
        <p:nvSpPr>
          <p:cNvPr id="9" name="Text 7"/>
          <p:cNvSpPr/>
          <p:nvPr/>
        </p:nvSpPr>
        <p:spPr>
          <a:xfrm>
            <a:off x="1056640" y="3368041"/>
            <a:ext cx="342199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delivery_window</a:t>
            </a:r>
            <a:endParaRPr lang="en-US" sz="1300" dirty="0"/>
          </a:p>
        </p:txBody>
      </p:sp>
      <p:sp>
        <p:nvSpPr>
          <p:cNvPr id="10" name="Text 8"/>
          <p:cNvSpPr/>
          <p:nvPr/>
        </p:nvSpPr>
        <p:spPr>
          <a:xfrm>
            <a:off x="1056640" y="3688080"/>
            <a:ext cx="342199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dietary_restriction</a:t>
            </a:r>
            <a:endParaRPr lang="en-US" sz="1300" dirty="0"/>
          </a:p>
        </p:txBody>
      </p:sp>
      <p:sp>
        <p:nvSpPr>
          <p:cNvPr id="11" name="Text 9"/>
          <p:cNvSpPr/>
          <p:nvPr/>
        </p:nvSpPr>
        <p:spPr>
          <a:xfrm>
            <a:off x="1056640" y="4008120"/>
            <a:ext cx="342199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allergies </a:t>
            </a:r>
            <a:r>
              <a:rPr lang="en-US" sz="1300" dirty="0">
                <a:solidFill>
                  <a:srgbClr val="B4432F"/>
                </a:solidFill>
                <a:latin typeface="IBM Plex Sans" pitchFamily="34" charset="0"/>
                <a:ea typeface="IBM Plex Sans" pitchFamily="34" charset="-122"/>
                <a:cs typeface="IBM Plex Sans" pitchFamily="34" charset="-120"/>
              </a:rPr>
              <a:t>· health data</a:t>
            </a:r>
            <a:endParaRPr lang="en-US" sz="1300" dirty="0"/>
          </a:p>
        </p:txBody>
      </p:sp>
      <p:pic>
        <p:nvPicPr>
          <p:cNvPr id="12" name="Image 0" descr="connector">    </p:cNvPr>
          <p:cNvPicPr>
            <a:picLocks noChangeAspect="1"/>
          </p:cNvPicPr>
          <p:nvPr/>
        </p:nvPicPr>
        <p:blipFill>
          <a:blip r:embed="rId1"/>
          <a:srcRect l="0" r="0" t="0" b="0"/>
          <a:stretch/>
        </p:blipFill>
        <p:spPr>
          <a:xfrm>
            <a:off x="4876800" y="2376170"/>
            <a:ext cx="952500" cy="190500"/>
          </a:xfrm>
          <a:prstGeom prst="rect">
            <a:avLst/>
          </a:prstGeom>
        </p:spPr>
      </p:pic>
      <p:pic>
        <p:nvPicPr>
          <p:cNvPr id="13" name="Image 1" descr="connector">    </p:cNvPr>
          <p:cNvPicPr>
            <a:picLocks noChangeAspect="1"/>
          </p:cNvPicPr>
          <p:nvPr/>
        </p:nvPicPr>
        <p:blipFill>
          <a:blip r:embed="rId2"/>
          <a:srcRect l="0" r="0" t="0" b="0"/>
          <a:stretch/>
        </p:blipFill>
        <p:spPr>
          <a:xfrm>
            <a:off x="4876800" y="3717291"/>
            <a:ext cx="952500" cy="190500"/>
          </a:xfrm>
          <a:prstGeom prst="rect">
            <a:avLst/>
          </a:prstGeom>
        </p:spPr>
      </p:pic>
      <p:sp>
        <p:nvSpPr>
          <p:cNvPr id="14" name="Shape 10"/>
          <p:cNvSpPr/>
          <p:nvPr/>
        </p:nvSpPr>
        <p:spPr>
          <a:xfrm>
            <a:off x="6083300" y="1800861"/>
            <a:ext cx="5295900" cy="1187450"/>
          </a:xfrm>
          <a:prstGeom prst="roundRect">
            <a:avLst>
              <a:gd name="adj" fmla="val 8556"/>
            </a:avLst>
          </a:prstGeom>
          <a:solidFill>
            <a:srgbClr val="FFFFFF"/>
          </a:solidFill>
          <a:ln/>
        </p:spPr>
      </p:sp>
      <p:sp>
        <p:nvSpPr>
          <p:cNvPr id="15" name="Shape 11"/>
          <p:cNvSpPr/>
          <p:nvPr/>
        </p:nvSpPr>
        <p:spPr>
          <a:xfrm>
            <a:off x="6083300" y="1800861"/>
            <a:ext cx="5295900" cy="1187450"/>
          </a:xfrm>
          <a:custGeom>
            <a:avLst/>
            <a:gdLst/>
            <a:ahLst/>
            <a:cxnLst/>
            <a:rect l="l" t="t" r="r" b="b"/>
            <a:pathLst>
              <a:path w="5295900" h="1187450">
                <a:moveTo>
                  <a:pt x="101600" y="1187450"/>
                </a:moveTo>
                <a:lnTo>
                  <a:pt x="101600" y="1187450"/>
                </a:lnTo>
                <a:arcTo hR="101600" wR="101600" stAng="5400000" swAng="5400000"/>
                <a:lnTo>
                  <a:pt x="0" y="101600"/>
                </a:lnTo>
                <a:arcTo hR="101600" wR="101600" stAng="10800000" swAng="5400000"/>
                <a:lnTo>
                  <a:pt x="101600" y="0"/>
                </a:lnTo>
                <a:arcTo hR="101600" wR="38100" stAng="16200000" swAng="-5400000"/>
                <a:lnTo>
                  <a:pt x="63500" y="1085850"/>
                </a:lnTo>
                <a:arcTo hR="101600" wR="38100" stAng="10800000" swAng="-5400000"/>
                <a:close/>
              </a:path>
            </a:pathLst>
          </a:custGeom>
          <a:solidFill>
            <a:srgbClr val="E8913A"/>
          </a:solidFill>
          <a:ln/>
        </p:spPr>
      </p:sp>
      <p:sp>
        <p:nvSpPr>
          <p:cNvPr id="16" name="Text 12"/>
          <p:cNvSpPr/>
          <p:nvPr/>
        </p:nvSpPr>
        <p:spPr>
          <a:xfrm>
            <a:off x="6372860" y="1978661"/>
            <a:ext cx="4921072"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Rubik" pitchFamily="34" charset="0"/>
                <a:ea typeface="Rubik" pitchFamily="34" charset="-122"/>
                <a:cs typeface="Rubik" pitchFamily="34" charset="-120"/>
              </a:rPr>
              <a:t>Cooklist · read + write</a:t>
            </a:r>
            <a:endParaRPr lang="en-US" sz="1700" dirty="0"/>
          </a:p>
        </p:txBody>
      </p:sp>
      <p:sp>
        <p:nvSpPr>
          <p:cNvPr id="17" name="Text 13"/>
          <p:cNvSpPr/>
          <p:nvPr/>
        </p:nvSpPr>
        <p:spPr>
          <a:xfrm>
            <a:off x="6372860" y="2301241"/>
            <a:ext cx="4921072" cy="24828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4213D"/>
                </a:solidFill>
                <a:latin typeface="IBM Plex Sans" pitchFamily="34" charset="0"/>
                <a:ea typeface="IBM Plex Sans" pitchFamily="34" charset="-122"/>
                <a:cs typeface="IBM Plex Sans" pitchFamily="34" charset="-120"/>
              </a:rPr>
              <a:t>Approved: organic_brand, dietary_restriction</a:t>
            </a:r>
            <a:endParaRPr lang="en-US" sz="1300" dirty="0"/>
          </a:p>
        </p:txBody>
      </p:sp>
      <p:sp>
        <p:nvSpPr>
          <p:cNvPr id="18" name="Text 14"/>
          <p:cNvSpPr/>
          <p:nvPr/>
        </p:nvSpPr>
        <p:spPr>
          <a:xfrm>
            <a:off x="6372860" y="2587625"/>
            <a:ext cx="4921072" cy="24828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5B6475"/>
                </a:solidFill>
                <a:latin typeface="IBM Plex Sans" pitchFamily="34" charset="0"/>
                <a:ea typeface="IBM Plex Sans" pitchFamily="34" charset="-122"/>
                <a:cs typeface="IBM Plex Sans" pitchFamily="34" charset="-120"/>
              </a:rPr>
              <a:t>Denied: preferred_milk · never asked: store, delivery, allergies</a:t>
            </a:r>
            <a:endParaRPr lang="en-US" sz="1300" dirty="0"/>
          </a:p>
        </p:txBody>
      </p:sp>
      <p:sp>
        <p:nvSpPr>
          <p:cNvPr id="19" name="Shape 15"/>
          <p:cNvSpPr/>
          <p:nvPr/>
        </p:nvSpPr>
        <p:spPr>
          <a:xfrm>
            <a:off x="6083300" y="3166111"/>
            <a:ext cx="5295900" cy="1187450"/>
          </a:xfrm>
          <a:prstGeom prst="roundRect">
            <a:avLst>
              <a:gd name="adj" fmla="val 8556"/>
            </a:avLst>
          </a:prstGeom>
          <a:solidFill>
            <a:srgbClr val="FFFFFF"/>
          </a:solidFill>
          <a:ln/>
        </p:spPr>
      </p:sp>
      <p:sp>
        <p:nvSpPr>
          <p:cNvPr id="20" name="Shape 16"/>
          <p:cNvSpPr/>
          <p:nvPr/>
        </p:nvSpPr>
        <p:spPr>
          <a:xfrm>
            <a:off x="6083300" y="3166111"/>
            <a:ext cx="5295900" cy="1187450"/>
          </a:xfrm>
          <a:custGeom>
            <a:avLst/>
            <a:gdLst/>
            <a:ahLst/>
            <a:cxnLst/>
            <a:rect l="l" t="t" r="r" b="b"/>
            <a:pathLst>
              <a:path w="5295900" h="1187450">
                <a:moveTo>
                  <a:pt x="101600" y="1187450"/>
                </a:moveTo>
                <a:lnTo>
                  <a:pt x="101600" y="1187450"/>
                </a:lnTo>
                <a:arcTo hR="101600" wR="101600" stAng="5400000" swAng="5400000"/>
                <a:lnTo>
                  <a:pt x="0" y="101600"/>
                </a:lnTo>
                <a:arcTo hR="101600" wR="101600" stAng="10800000" swAng="5400000"/>
                <a:lnTo>
                  <a:pt x="101600" y="0"/>
                </a:lnTo>
                <a:arcTo hR="101600" wR="38100" stAng="16200000" swAng="-5400000"/>
                <a:lnTo>
                  <a:pt x="63500" y="1085850"/>
                </a:lnTo>
                <a:arcTo hR="101600" wR="38100" stAng="10800000" swAng="-5400000"/>
                <a:close/>
              </a:path>
            </a:pathLst>
          </a:custGeom>
          <a:solidFill>
            <a:srgbClr val="5B6475"/>
          </a:solidFill>
          <a:ln/>
        </p:spPr>
      </p:sp>
      <p:sp>
        <p:nvSpPr>
          <p:cNvPr id="21" name="Text 17"/>
          <p:cNvSpPr/>
          <p:nvPr/>
        </p:nvSpPr>
        <p:spPr>
          <a:xfrm>
            <a:off x="6372860" y="3343911"/>
            <a:ext cx="4921072"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Rubik" pitchFamily="34" charset="0"/>
                <a:ea typeface="Rubik" pitchFamily="34" charset="-122"/>
                <a:cs typeface="Rubik" pitchFamily="34" charset="-120"/>
              </a:rPr>
              <a:t>Meal Planner · read only</a:t>
            </a:r>
            <a:endParaRPr lang="en-US" sz="1700" dirty="0"/>
          </a:p>
        </p:txBody>
      </p:sp>
      <p:sp>
        <p:nvSpPr>
          <p:cNvPr id="22" name="Text 18"/>
          <p:cNvSpPr/>
          <p:nvPr/>
        </p:nvSpPr>
        <p:spPr>
          <a:xfrm>
            <a:off x="6372860" y="3666491"/>
            <a:ext cx="4921072" cy="24828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4213D"/>
                </a:solidFill>
                <a:latin typeface="IBM Plex Sans" pitchFamily="34" charset="0"/>
                <a:ea typeface="IBM Plex Sans" pitchFamily="34" charset="-122"/>
                <a:cs typeface="IBM Plex Sans" pitchFamily="34" charset="-120"/>
              </a:rPr>
              <a:t>Approved: dietary_restriction, allergies</a:t>
            </a:r>
            <a:endParaRPr lang="en-US" sz="1300" dirty="0"/>
          </a:p>
        </p:txBody>
      </p:sp>
      <p:sp>
        <p:nvSpPr>
          <p:cNvPr id="23" name="Text 19"/>
          <p:cNvSpPr/>
          <p:nvPr/>
        </p:nvSpPr>
        <p:spPr>
          <a:xfrm>
            <a:off x="6372860" y="3952875"/>
            <a:ext cx="4921072" cy="24828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5B6475"/>
                </a:solidFill>
                <a:latin typeface="IBM Plex Sans" pitchFamily="34" charset="0"/>
                <a:ea typeface="IBM Plex Sans" pitchFamily="34" charset="-122"/>
                <a:cs typeface="IBM Plex Sans" pitchFamily="34" charset="-120"/>
              </a:rPr>
              <a:t>Denied: preferred_store · can't write anything</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6FDE"/>
                </a:solidFill>
                <a:latin typeface="Rubik" pitchFamily="34" charset="0"/>
                <a:ea typeface="Rubik" pitchFamily="34" charset="-122"/>
                <a:cs typeface="Rubik" pitchFamily="34" charset="-120"/>
              </a:rPr>
              <a:t>WHAT AN AGENT DECLARES</a:t>
            </a:r>
            <a:endParaRPr lang="en-US" sz="1200" dirty="0"/>
          </a:p>
        </p:txBody>
      </p:sp>
      <p:sp>
        <p:nvSpPr>
          <p:cNvPr id="3" name="Text 1"/>
          <p:cNvSpPr/>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Rubik" pitchFamily="34" charset="0"/>
                <a:ea typeface="Rubik" pitchFamily="34" charset="-122"/>
                <a:cs typeface="Rubik" pitchFamily="34" charset="-120"/>
              </a:rPr>
              <a:t>Two kinds of preference</a:t>
            </a:r>
            <a:endParaRPr lang="en-US" sz="3200" dirty="0"/>
          </a:p>
        </p:txBody>
      </p:sp>
      <p:sp>
        <p:nvSpPr>
          <p:cNvPr id="4" name="Shape 2"/>
          <p:cNvSpPr/>
          <p:nvPr/>
        </p:nvSpPr>
        <p:spPr>
          <a:xfrm>
            <a:off x="815975" y="1882775"/>
            <a:ext cx="5149850" cy="3130550"/>
          </a:xfrm>
          <a:prstGeom prst="roundRect">
            <a:avLst>
              <a:gd name="adj" fmla="val 3955"/>
            </a:avLst>
          </a:prstGeom>
          <a:solidFill>
            <a:srgbClr val="FFFFFF"/>
          </a:solidFill>
          <a:ln w="6350">
            <a:solidFill>
              <a:srgbClr val="DDE2EA"/>
            </a:solidFill>
            <a:prstDash val="solid"/>
          </a:ln>
        </p:spPr>
      </p:sp>
      <p:pic>
        <p:nvPicPr>
          <p:cNvPr id="5" name="Image 0" descr="Database">    </p:cNvPr>
          <p:cNvPicPr>
            <a:picLocks noChangeAspect="1"/>
          </p:cNvPicPr>
          <p:nvPr/>
        </p:nvPicPr>
        <p:blipFill>
          <a:blip r:embed="rId1"/>
          <a:srcRect l="0" r="0" t="0" b="0"/>
          <a:stretch/>
        </p:blipFill>
        <p:spPr>
          <a:xfrm>
            <a:off x="1122680" y="2189482"/>
            <a:ext cx="355600" cy="355600"/>
          </a:xfrm>
          <a:prstGeom prst="rect">
            <a:avLst/>
          </a:prstGeom>
        </p:spPr>
      </p:pic>
      <p:sp>
        <p:nvSpPr>
          <p:cNvPr id="6" name="Text 3"/>
          <p:cNvSpPr/>
          <p:nvPr/>
        </p:nvSpPr>
        <p:spPr>
          <a:xfrm>
            <a:off x="1122680" y="2684782"/>
            <a:ext cx="4672533"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Rubik" pitchFamily="34" charset="0"/>
                <a:ea typeface="Rubik" pitchFamily="34" charset="-122"/>
                <a:cs typeface="Rubik" pitchFamily="34" charset="-120"/>
              </a:rPr>
              <a:t>Canonical</a:t>
            </a:r>
            <a:endParaRPr lang="en-US" sz="2200" dirty="0"/>
          </a:p>
        </p:txBody>
      </p:sp>
      <p:sp>
        <p:nvSpPr>
          <p:cNvPr id="7" name="Text 4"/>
          <p:cNvSpPr/>
          <p:nvPr/>
        </p:nvSpPr>
        <p:spPr>
          <a:xfrm>
            <a:off x="1122680" y="3159761"/>
            <a:ext cx="4672533"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F4A5E"/>
                </a:solidFill>
                <a:latin typeface="IBM Plex Sans" pitchFamily="34" charset="0"/>
                <a:ea typeface="IBM Plex Sans" pitchFamily="34" charset="-122"/>
                <a:cs typeface="IBM Plex Sans" pitchFamily="34" charset="-120"/>
              </a:rPr>
              <a:t>Fixed, typed fields in a governed schema. The model can fill them but never invent new ones.</a:t>
            </a:r>
            <a:endParaRPr lang="en-US" sz="1500" dirty="0"/>
          </a:p>
        </p:txBody>
      </p:sp>
      <p:sp>
        <p:nvSpPr>
          <p:cNvPr id="8" name="Shape 5"/>
          <p:cNvSpPr/>
          <p:nvPr/>
        </p:nvSpPr>
        <p:spPr>
          <a:xfrm>
            <a:off x="1122680" y="3832861"/>
            <a:ext cx="4536440" cy="485140"/>
          </a:xfrm>
          <a:prstGeom prst="roundRect">
            <a:avLst>
              <a:gd name="adj" fmla="val 15707"/>
            </a:avLst>
          </a:prstGeom>
          <a:solidFill>
            <a:srgbClr val="EEF1F6"/>
          </a:solidFill>
          <a:ln/>
        </p:spPr>
      </p:sp>
      <p:sp>
        <p:nvSpPr>
          <p:cNvPr id="9" name="Text 6"/>
          <p:cNvSpPr/>
          <p:nvPr/>
        </p:nvSpPr>
        <p:spPr>
          <a:xfrm>
            <a:off x="1275080" y="3959861"/>
            <a:ext cx="4358589"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ksa.organic_brand = "Simple Truth"</a:t>
            </a:r>
            <a:endParaRPr lang="en-US" sz="1300" dirty="0"/>
          </a:p>
        </p:txBody>
      </p:sp>
      <p:sp>
        <p:nvSpPr>
          <p:cNvPr id="10" name="Text 7"/>
          <p:cNvSpPr/>
          <p:nvPr/>
        </p:nvSpPr>
        <p:spPr>
          <a:xfrm>
            <a:off x="1122680" y="4457700"/>
            <a:ext cx="4672533"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Can be shared</a:t>
            </a:r>
            <a:r>
              <a:rPr lang="en-US" sz="1400" dirty="0">
                <a:solidFill>
                  <a:srgbClr val="14213D"/>
                </a:solidFill>
                <a:latin typeface="IBM Plex Sans" pitchFamily="34" charset="0"/>
                <a:ea typeface="IBM Plex Sans" pitchFamily="34" charset="-122"/>
                <a:cs typeface="IBM Plex Sans" pitchFamily="34" charset="-120"/>
              </a:rPr>
              <a:t> with other agents, per preference.</a:t>
            </a:r>
            <a:endParaRPr lang="en-US" sz="1400" dirty="0"/>
          </a:p>
        </p:txBody>
      </p:sp>
      <p:sp>
        <p:nvSpPr>
          <p:cNvPr id="11" name="Shape 8"/>
          <p:cNvSpPr/>
          <p:nvPr/>
        </p:nvSpPr>
        <p:spPr>
          <a:xfrm>
            <a:off x="6226175" y="1882775"/>
            <a:ext cx="5149850" cy="3130550"/>
          </a:xfrm>
          <a:prstGeom prst="roundRect">
            <a:avLst>
              <a:gd name="adj" fmla="val 3955"/>
            </a:avLst>
          </a:prstGeom>
          <a:solidFill>
            <a:srgbClr val="FFFFFF"/>
          </a:solidFill>
          <a:ln w="6350">
            <a:solidFill>
              <a:srgbClr val="DDE2EA"/>
            </a:solidFill>
            <a:prstDash val="solid"/>
          </a:ln>
        </p:spPr>
      </p:sp>
      <p:pic>
        <p:nvPicPr>
          <p:cNvPr id="12" name="Image 1" descr="Lightbulb">    </p:cNvPr>
          <p:cNvPicPr>
            <a:picLocks noChangeAspect="1"/>
          </p:cNvPicPr>
          <p:nvPr/>
        </p:nvPicPr>
        <p:blipFill>
          <a:blip r:embed="rId2"/>
          <a:srcRect l="0" r="0" t="0" b="0"/>
          <a:stretch/>
        </p:blipFill>
        <p:spPr>
          <a:xfrm>
            <a:off x="6532880" y="2189482"/>
            <a:ext cx="355600" cy="355600"/>
          </a:xfrm>
          <a:prstGeom prst="rect">
            <a:avLst/>
          </a:prstGeom>
        </p:spPr>
      </p:pic>
      <p:sp>
        <p:nvSpPr>
          <p:cNvPr id="13" name="Text 9"/>
          <p:cNvSpPr/>
          <p:nvPr/>
        </p:nvSpPr>
        <p:spPr>
          <a:xfrm>
            <a:off x="6532880" y="2684782"/>
            <a:ext cx="4672533"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Rubik" pitchFamily="34" charset="0"/>
                <a:ea typeface="Rubik" pitchFamily="34" charset="-122"/>
                <a:cs typeface="Rubik" pitchFamily="34" charset="-120"/>
              </a:rPr>
              <a:t>Dynamic</a:t>
            </a:r>
            <a:endParaRPr lang="en-US" sz="2200" dirty="0"/>
          </a:p>
        </p:txBody>
      </p:sp>
      <p:sp>
        <p:nvSpPr>
          <p:cNvPr id="14" name="Text 10"/>
          <p:cNvSpPr/>
          <p:nvPr/>
        </p:nvSpPr>
        <p:spPr>
          <a:xfrm>
            <a:off x="6532880" y="3159761"/>
            <a:ext cx="4672533"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F4A5E"/>
                </a:solidFill>
                <a:latin typeface="IBM Plex Sans" pitchFamily="34" charset="0"/>
                <a:ea typeface="IBM Plex Sans" pitchFamily="34" charset="-122"/>
                <a:cs typeface="IBM Plex Sans" pitchFamily="34" charset="-120"/>
              </a:rPr>
              <a:t>Free-text facts, but only inside topics the owner approved. Anything outside them is refused.</a:t>
            </a:r>
            <a:endParaRPr lang="en-US" sz="1500" dirty="0"/>
          </a:p>
        </p:txBody>
      </p:sp>
      <p:sp>
        <p:nvSpPr>
          <p:cNvPr id="15" name="Shape 11"/>
          <p:cNvSpPr/>
          <p:nvPr/>
        </p:nvSpPr>
        <p:spPr>
          <a:xfrm>
            <a:off x="6532880" y="3832861"/>
            <a:ext cx="4536440" cy="485140"/>
          </a:xfrm>
          <a:prstGeom prst="roundRect">
            <a:avLst>
              <a:gd name="adj" fmla="val 15707"/>
            </a:avLst>
          </a:prstGeom>
          <a:solidFill>
            <a:srgbClr val="EEF1F6"/>
          </a:solidFill>
          <a:ln/>
        </p:spPr>
      </p:sp>
      <p:sp>
        <p:nvSpPr>
          <p:cNvPr id="16" name="Text 12"/>
          <p:cNvSpPr/>
          <p:nvPr/>
        </p:nvSpPr>
        <p:spPr>
          <a:xfrm>
            <a:off x="6685280" y="3959861"/>
            <a:ext cx="4358589"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topic "shopping": "big shop on Sunday mornings"</a:t>
            </a:r>
            <a:endParaRPr lang="en-US" sz="1300" dirty="0"/>
          </a:p>
        </p:txBody>
      </p:sp>
      <p:sp>
        <p:nvSpPr>
          <p:cNvPr id="17" name="Text 13"/>
          <p:cNvSpPr/>
          <p:nvPr/>
        </p:nvSpPr>
        <p:spPr>
          <a:xfrm>
            <a:off x="6532880" y="4457700"/>
            <a:ext cx="4672533"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Stays with its domain</a:t>
            </a:r>
            <a:r>
              <a:rPr lang="en-US" sz="1400" dirty="0">
                <a:solidFill>
                  <a:srgbClr val="14213D"/>
                </a:solidFill>
                <a:latin typeface="IBM Plex Sans" pitchFamily="34" charset="0"/>
                <a:ea typeface="IBM Plex Sans" pitchFamily="34" charset="-122"/>
                <a:cs typeface="IBM Plex Sans" pitchFamily="34" charset="-120"/>
              </a:rPr>
              <a:t>; each topic has its own sensitivity.</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6FDE"/>
                </a:solidFill>
                <a:latin typeface="Rubik" pitchFamily="34" charset="0"/>
                <a:ea typeface="Rubik" pitchFamily="34" charset="-122"/>
                <a:cs typeface="Rubik" pitchFamily="34" charset="-120"/>
              </a:rPr>
              <a:t>SENSITIVITY</a:t>
            </a:r>
            <a:endParaRPr lang="en-US" sz="1200" dirty="0"/>
          </a:p>
        </p:txBody>
      </p:sp>
      <p:sp>
        <p:nvSpPr>
          <p:cNvPr id="3" name="Text 1"/>
          <p:cNvSpPr/>
          <p:nvPr/>
        </p:nvSpPr>
        <p:spPr>
          <a:xfrm>
            <a:off x="812800" y="1127761"/>
            <a:ext cx="10883392" cy="9194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Rubik" pitchFamily="34" charset="0"/>
                <a:ea typeface="Rubik" pitchFamily="34" charset="-122"/>
                <a:cs typeface="Rubik" pitchFamily="34" charset="-120"/>
              </a:rPr>
              <a:t>Each preference is classified, and the platform applies the rules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2311399"/>
          <a:ext cx="10556240" cy="2664460"/>
        </p:xfrm>
        <a:graphic>
          <a:graphicData uri="http://schemas.openxmlformats.org/drawingml/2006/table">
            <a:tbl>
              <a:tblPr/>
              <a:tblGrid>
                <a:gridCol w="2322373"/>
                <a:gridCol w="2744622"/>
                <a:gridCol w="5489245"/>
              </a:tblGrid>
              <a:tr h="383540">
                <a:tc>
                  <a:txBody>
                    <a:bodyPr/>
                    <a:lstStyle/>
                    <a:p>
                      <a:pP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Classification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Example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What the platform does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r>
              <a:tr h="632460">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Non-sensitive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Organic brand, store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Saved from what the customer says or the agent infers. Kept up to 3 years.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632460">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Sensitive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Religion, pregnancy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Saved only when the customer states it, never inferred. Kept up to 2 years.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83540">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Restricted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SSN, card, weapons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Never stored. Blocked even if the agent tries.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632460">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 Health data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Allergies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Asks the customer to confirm, records consent, refused for another adult, never written by another agent.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bl>
          </a:graphicData>
        </a:graphic>
      </p:graphicFrame>
      <p:sp>
        <p:nvSpPr>
          <p:cNvPr id="5" name="Text 2"/>
          <p:cNvSpPr/>
          <p:nvPr/>
        </p:nvSpPr>
        <p:spPr>
          <a:xfrm>
            <a:off x="812800" y="5255261"/>
            <a:ext cx="1088339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B6475"/>
                </a:solidFill>
                <a:latin typeface="IBM Plex Sans" pitchFamily="34" charset="0"/>
                <a:ea typeface="IBM Plex Sans" pitchFamily="34" charset="-122"/>
                <a:cs typeface="IBM Plex Sans" pitchFamily="34" charset="-120"/>
              </a:rPr>
              <a:t>The content is also scanned: a phone number or SSN typed into any field is blocked, whatever the field's classification.</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EF1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6FDE"/>
                </a:solidFill>
                <a:latin typeface="Rubik" pitchFamily="34" charset="0"/>
                <a:ea typeface="Rubik" pitchFamily="34" charset="-122"/>
                <a:cs typeface="Rubik" pitchFamily="34" charset="-120"/>
              </a:rPr>
              <a:t>ACCESS REQUESTS</a:t>
            </a:r>
            <a:endParaRPr lang="en-US" sz="1200" dirty="0"/>
          </a:p>
        </p:txBody>
      </p:sp>
      <p:sp>
        <p:nvSpPr>
          <p:cNvPr id="3" name="Text 1"/>
          <p:cNvSpPr/>
          <p:nvPr/>
        </p:nvSpPr>
        <p:spPr>
          <a:xfrm>
            <a:off x="812800" y="1127761"/>
            <a:ext cx="10883392" cy="9194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Rubik" pitchFamily="34" charset="0"/>
                <a:ea typeface="Rubik" pitchFamily="34" charset="-122"/>
                <a:cs typeface="Rubik" pitchFamily="34" charset="-120"/>
              </a:rPr>
              <a:t>Ask for specific preferences. The owner approves each one.</a:t>
            </a:r>
            <a:endParaRPr lang="en-US" sz="3200" dirty="0"/>
          </a:p>
        </p:txBody>
      </p:sp>
      <p:sp>
        <p:nvSpPr>
          <p:cNvPr id="4" name="Shape 2"/>
          <p:cNvSpPr/>
          <p:nvPr/>
        </p:nvSpPr>
        <p:spPr>
          <a:xfrm>
            <a:off x="812800" y="2301239"/>
            <a:ext cx="345281" cy="342900"/>
          </a:xfrm>
          <a:prstGeom prst="roundRect">
            <a:avLst>
              <a:gd name="adj" fmla="val 50000"/>
            </a:avLst>
          </a:prstGeom>
          <a:solidFill>
            <a:srgbClr val="2F6FDE"/>
          </a:solidFill>
          <a:ln/>
        </p:spPr>
      </p:sp>
      <p:sp>
        <p:nvSpPr>
          <p:cNvPr id="5" name="Text 3"/>
          <p:cNvSpPr/>
          <p:nvPr/>
        </p:nvSpPr>
        <p:spPr>
          <a:xfrm>
            <a:off x="939800" y="2339339"/>
            <a:ext cx="142081"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7F6F2"/>
                </a:solidFill>
                <a:latin typeface="Rubik" pitchFamily="34" charset="0"/>
                <a:ea typeface="Rubik" pitchFamily="34" charset="-122"/>
                <a:cs typeface="Rubik" pitchFamily="34" charset="-120"/>
              </a:rPr>
              <a:t>1</a:t>
            </a:r>
            <a:endParaRPr lang="en-US" sz="1500" dirty="0"/>
          </a:p>
        </p:txBody>
      </p:sp>
      <p:sp>
        <p:nvSpPr>
          <p:cNvPr id="6" name="Text 4"/>
          <p:cNvSpPr/>
          <p:nvPr/>
        </p:nvSpPr>
        <p:spPr>
          <a:xfrm>
            <a:off x="1285081" y="2339339"/>
            <a:ext cx="4822638"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Request</a:t>
            </a:r>
            <a:r>
              <a:rPr lang="en-US" sz="1500" dirty="0">
                <a:solidFill>
                  <a:srgbClr val="14213D"/>
                </a:solidFill>
                <a:latin typeface="IBM Plex Sans" pitchFamily="34" charset="0"/>
                <a:ea typeface="IBM Plex Sans" pitchFamily="34" charset="-122"/>
                <a:cs typeface="IBM Plex Sans" pitchFamily="34" charset="-120"/>
              </a:rPr>
              <a:t> — pick preferences, and </a:t>
            </a:r>
            <a:r>
              <a:rPr lang="en-US" sz="1500" b="1" dirty="0">
                <a:solidFill>
                  <a:srgbClr val="14213D"/>
                </a:solidFill>
                <a:latin typeface="IBM Plex Sans" pitchFamily="34" charset="0"/>
                <a:ea typeface="IBM Plex Sans" pitchFamily="34" charset="-122"/>
                <a:cs typeface="IBM Plex Sans" pitchFamily="34" charset="-120"/>
              </a:rPr>
              <a:t>Read</a:t>
            </a:r>
            <a:r>
              <a:rPr lang="en-US" sz="1500" dirty="0">
                <a:solidFill>
                  <a:srgbClr val="14213D"/>
                </a:solidFill>
                <a:latin typeface="IBM Plex Sans" pitchFamily="34" charset="0"/>
                <a:ea typeface="IBM Plex Sans" pitchFamily="34" charset="-122"/>
                <a:cs typeface="IBM Plex Sans" pitchFamily="34" charset="-120"/>
              </a:rPr>
              <a:t> or </a:t>
            </a:r>
            <a:r>
              <a:rPr lang="en-US" sz="1500" b="1" dirty="0">
                <a:solidFill>
                  <a:srgbClr val="14213D"/>
                </a:solidFill>
                <a:latin typeface="IBM Plex Sans" pitchFamily="34" charset="0"/>
                <a:ea typeface="IBM Plex Sans" pitchFamily="34" charset="-122"/>
                <a:cs typeface="IBM Plex Sans" pitchFamily="34" charset="-120"/>
              </a:rPr>
              <a:t>Read + write</a:t>
            </a:r>
            <a:endParaRPr lang="en-US" sz="1500" dirty="0"/>
          </a:p>
        </p:txBody>
      </p:sp>
      <p:sp>
        <p:nvSpPr>
          <p:cNvPr id="7" name="Shape 5"/>
          <p:cNvSpPr/>
          <p:nvPr/>
        </p:nvSpPr>
        <p:spPr>
          <a:xfrm>
            <a:off x="812800" y="2796539"/>
            <a:ext cx="374809" cy="342900"/>
          </a:xfrm>
          <a:prstGeom prst="roundRect">
            <a:avLst>
              <a:gd name="adj" fmla="val 50000"/>
            </a:avLst>
          </a:prstGeom>
          <a:solidFill>
            <a:srgbClr val="2F6FDE"/>
          </a:solidFill>
          <a:ln/>
        </p:spPr>
      </p:sp>
      <p:sp>
        <p:nvSpPr>
          <p:cNvPr id="8" name="Text 6"/>
          <p:cNvSpPr/>
          <p:nvPr/>
        </p:nvSpPr>
        <p:spPr>
          <a:xfrm>
            <a:off x="939800" y="2834639"/>
            <a:ext cx="171609"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7F6F2"/>
                </a:solidFill>
                <a:latin typeface="Rubik" pitchFamily="34" charset="0"/>
                <a:ea typeface="Rubik" pitchFamily="34" charset="-122"/>
                <a:cs typeface="Rubik" pitchFamily="34" charset="-120"/>
              </a:rPr>
              <a:t>2</a:t>
            </a:r>
            <a:endParaRPr lang="en-US" sz="1500" dirty="0"/>
          </a:p>
        </p:txBody>
      </p:sp>
      <p:sp>
        <p:nvSpPr>
          <p:cNvPr id="9" name="Text 7"/>
          <p:cNvSpPr/>
          <p:nvPr/>
        </p:nvSpPr>
        <p:spPr>
          <a:xfrm>
            <a:off x="1314609" y="2834639"/>
            <a:ext cx="397785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Review</a:t>
            </a:r>
            <a:r>
              <a:rPr lang="en-US" sz="1500" dirty="0">
                <a:solidFill>
                  <a:srgbClr val="14213D"/>
                </a:solidFill>
                <a:latin typeface="IBM Plex Sans" pitchFamily="34" charset="0"/>
                <a:ea typeface="IBM Plex Sans" pitchFamily="34" charset="-122"/>
                <a:cs typeface="IBM Plex Sans" pitchFamily="34" charset="-120"/>
              </a:rPr>
              <a:t> — the owner unticks anything to deny</a:t>
            </a:r>
            <a:endParaRPr lang="en-US" sz="1500" dirty="0"/>
          </a:p>
        </p:txBody>
      </p:sp>
      <p:sp>
        <p:nvSpPr>
          <p:cNvPr id="10" name="Shape 8"/>
          <p:cNvSpPr/>
          <p:nvPr/>
        </p:nvSpPr>
        <p:spPr>
          <a:xfrm>
            <a:off x="812800" y="3291839"/>
            <a:ext cx="376714" cy="342900"/>
          </a:xfrm>
          <a:prstGeom prst="roundRect">
            <a:avLst>
              <a:gd name="adj" fmla="val 50000"/>
            </a:avLst>
          </a:prstGeom>
          <a:solidFill>
            <a:srgbClr val="2F6FDE"/>
          </a:solidFill>
          <a:ln/>
        </p:spPr>
      </p:sp>
      <p:sp>
        <p:nvSpPr>
          <p:cNvPr id="11" name="Text 9"/>
          <p:cNvSpPr/>
          <p:nvPr/>
        </p:nvSpPr>
        <p:spPr>
          <a:xfrm>
            <a:off x="939800" y="3329939"/>
            <a:ext cx="173514"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7F6F2"/>
                </a:solidFill>
                <a:latin typeface="Rubik" pitchFamily="34" charset="0"/>
                <a:ea typeface="Rubik" pitchFamily="34" charset="-122"/>
                <a:cs typeface="Rubik" pitchFamily="34" charset="-120"/>
              </a:rPr>
              <a:t>3</a:t>
            </a:r>
            <a:endParaRPr lang="en-US" sz="1500" dirty="0"/>
          </a:p>
        </p:txBody>
      </p:sp>
      <p:sp>
        <p:nvSpPr>
          <p:cNvPr id="12" name="Text 10"/>
          <p:cNvSpPr/>
          <p:nvPr/>
        </p:nvSpPr>
        <p:spPr>
          <a:xfrm>
            <a:off x="1316514" y="3329939"/>
            <a:ext cx="3438668"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Grant</a:t>
            </a:r>
            <a:r>
              <a:rPr lang="en-US" sz="1500" dirty="0">
                <a:solidFill>
                  <a:srgbClr val="14213D"/>
                </a:solidFill>
                <a:latin typeface="IBM Plex Sans" pitchFamily="34" charset="0"/>
                <a:ea typeface="IBM Plex Sans" pitchFamily="34" charset="-122"/>
                <a:cs typeface="IBM Plex Sans" pitchFamily="34" charset="-120"/>
              </a:rPr>
              <a:t> — only the approved preferences</a:t>
            </a:r>
            <a:endParaRPr lang="en-US" sz="1500" dirty="0"/>
          </a:p>
        </p:txBody>
      </p:sp>
      <p:sp>
        <p:nvSpPr>
          <p:cNvPr id="13" name="Shape 11"/>
          <p:cNvSpPr/>
          <p:nvPr/>
        </p:nvSpPr>
        <p:spPr>
          <a:xfrm>
            <a:off x="812800" y="3787139"/>
            <a:ext cx="381079" cy="342900"/>
          </a:xfrm>
          <a:prstGeom prst="roundRect">
            <a:avLst>
              <a:gd name="adj" fmla="val 50000"/>
            </a:avLst>
          </a:prstGeom>
          <a:solidFill>
            <a:srgbClr val="2F6FDE"/>
          </a:solidFill>
          <a:ln/>
        </p:spPr>
      </p:sp>
      <p:sp>
        <p:nvSpPr>
          <p:cNvPr id="14" name="Text 12"/>
          <p:cNvSpPr/>
          <p:nvPr/>
        </p:nvSpPr>
        <p:spPr>
          <a:xfrm>
            <a:off x="939800" y="3825239"/>
            <a:ext cx="177879"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7F6F2"/>
                </a:solidFill>
                <a:latin typeface="Rubik" pitchFamily="34" charset="0"/>
                <a:ea typeface="Rubik" pitchFamily="34" charset="-122"/>
                <a:cs typeface="Rubik" pitchFamily="34" charset="-120"/>
              </a:rPr>
              <a:t>4</a:t>
            </a:r>
            <a:endParaRPr lang="en-US" sz="1500" dirty="0"/>
          </a:p>
        </p:txBody>
      </p:sp>
      <p:sp>
        <p:nvSpPr>
          <p:cNvPr id="15" name="Text 13"/>
          <p:cNvSpPr/>
          <p:nvPr/>
        </p:nvSpPr>
        <p:spPr>
          <a:xfrm>
            <a:off x="1320879" y="3825239"/>
            <a:ext cx="3585093"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Revoke</a:t>
            </a:r>
            <a:r>
              <a:rPr lang="en-US" sz="1500" dirty="0">
                <a:solidFill>
                  <a:srgbClr val="14213D"/>
                </a:solidFill>
                <a:latin typeface="IBM Plex Sans" pitchFamily="34" charset="0"/>
                <a:ea typeface="IBM Plex Sans" pitchFamily="34" charset="-122"/>
                <a:cs typeface="IBM Plex Sans" pitchFamily="34" charset="-120"/>
              </a:rPr>
              <a:t> — any time; access stops at once</a:t>
            </a:r>
            <a:endParaRPr lang="en-US" sz="1500" dirty="0"/>
          </a:p>
        </p:txBody>
      </p:sp>
      <p:sp>
        <p:nvSpPr>
          <p:cNvPr id="16" name="Shape 14"/>
          <p:cNvSpPr/>
          <p:nvPr/>
        </p:nvSpPr>
        <p:spPr>
          <a:xfrm>
            <a:off x="6810375" y="2304414"/>
            <a:ext cx="4565650" cy="2614930"/>
          </a:xfrm>
          <a:prstGeom prst="roundRect">
            <a:avLst>
              <a:gd name="adj" fmla="val 4735"/>
            </a:avLst>
          </a:prstGeom>
          <a:solidFill>
            <a:srgbClr val="FFFFFF"/>
          </a:solidFill>
          <a:ln w="6350">
            <a:solidFill>
              <a:srgbClr val="C9D3E6"/>
            </a:solidFill>
            <a:prstDash val="solid"/>
          </a:ln>
          <a:effectLst>
            <a:outerShdw sx="100000" sy="100000" kx="0" ky="0" algn="bl" rotWithShape="0" blurRad="203200" dist="76200" dir="5400000">
              <a:srgbClr val="14213D">
                <a:alpha val="12000"/>
              </a:srgbClr>
            </a:outerShdw>
          </a:effectLst>
        </p:spPr>
      </p:sp>
      <p:sp>
        <p:nvSpPr>
          <p:cNvPr id="17" name="Text 15"/>
          <p:cNvSpPr/>
          <p:nvPr/>
        </p:nvSpPr>
        <p:spPr>
          <a:xfrm>
            <a:off x="7066280" y="2560321"/>
            <a:ext cx="4175455"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B6475"/>
                </a:solidFill>
                <a:latin typeface="IBM Plex Sans" pitchFamily="34" charset="0"/>
                <a:ea typeface="IBM Plex Sans" pitchFamily="34" charset="-122"/>
                <a:cs typeface="IBM Plex Sans" pitchFamily="34" charset="-120"/>
              </a:rPr>
              <a:t>Approvals · pending</a:t>
            </a:r>
            <a:endParaRPr lang="en-US" sz="1300" dirty="0"/>
          </a:p>
        </p:txBody>
      </p:sp>
      <p:sp>
        <p:nvSpPr>
          <p:cNvPr id="18" name="Text 16"/>
          <p:cNvSpPr/>
          <p:nvPr/>
        </p:nvSpPr>
        <p:spPr>
          <a:xfrm>
            <a:off x="7066280" y="2905761"/>
            <a:ext cx="4175455"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cooklist → ksa-preferences</a:t>
            </a:r>
            <a:r>
              <a:rPr lang="en-US" sz="1400" dirty="0">
                <a:solidFill>
                  <a:srgbClr val="14213D"/>
                </a:solidFill>
                <a:latin typeface="IBM Plex Sans" pitchFamily="34" charset="0"/>
                <a:ea typeface="IBM Plex Sans" pitchFamily="34" charset="-122"/>
                <a:cs typeface="IBM Plex Sans" pitchFamily="34" charset="-120"/>
              </a:rPr>
              <a:t> · READ_WRITE</a:t>
            </a:r>
            <a:endParaRPr lang="en-US" sz="1400" dirty="0"/>
          </a:p>
        </p:txBody>
      </p:sp>
      <p:pic>
        <p:nvPicPr>
          <p:cNvPr id="19" name="Image 0" descr="Check">    </p:cNvPr>
          <p:cNvPicPr>
            <a:picLocks noChangeAspect="1"/>
          </p:cNvPicPr>
          <p:nvPr/>
        </p:nvPicPr>
        <p:blipFill>
          <a:blip r:embed="rId1"/>
          <a:srcRect l="0" r="0" t="0" b="0"/>
          <a:stretch/>
        </p:blipFill>
        <p:spPr>
          <a:xfrm>
            <a:off x="7066280" y="3270250"/>
            <a:ext cx="228600" cy="228600"/>
          </a:xfrm>
          <a:prstGeom prst="rect">
            <a:avLst/>
          </a:prstGeom>
        </p:spPr>
      </p:pic>
      <p:sp>
        <p:nvSpPr>
          <p:cNvPr id="20" name="Text 17"/>
          <p:cNvSpPr/>
          <p:nvPr/>
        </p:nvSpPr>
        <p:spPr>
          <a:xfrm>
            <a:off x="7396480" y="3268982"/>
            <a:ext cx="1118076"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organic_brand</a:t>
            </a:r>
            <a:endParaRPr lang="en-US" sz="1300" dirty="0"/>
          </a:p>
        </p:txBody>
      </p:sp>
      <p:pic>
        <p:nvPicPr>
          <p:cNvPr id="21" name="Image 1" descr="Check">    </p:cNvPr>
          <p:cNvPicPr>
            <a:picLocks noChangeAspect="1"/>
          </p:cNvPicPr>
          <p:nvPr/>
        </p:nvPicPr>
        <p:blipFill>
          <a:blip r:embed="rId2"/>
          <a:srcRect l="0" r="0" t="0" b="0"/>
          <a:stretch/>
        </p:blipFill>
        <p:spPr>
          <a:xfrm>
            <a:off x="7066280" y="3615689"/>
            <a:ext cx="228600" cy="228600"/>
          </a:xfrm>
          <a:prstGeom prst="rect">
            <a:avLst/>
          </a:prstGeom>
        </p:spPr>
      </p:pic>
      <p:sp>
        <p:nvSpPr>
          <p:cNvPr id="22" name="Text 18"/>
          <p:cNvSpPr/>
          <p:nvPr/>
        </p:nvSpPr>
        <p:spPr>
          <a:xfrm>
            <a:off x="7396480" y="3614421"/>
            <a:ext cx="1407319"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dietary_restriction</a:t>
            </a:r>
            <a:endParaRPr lang="en-US" sz="1300" dirty="0"/>
          </a:p>
        </p:txBody>
      </p:sp>
      <p:sp>
        <p:nvSpPr>
          <p:cNvPr id="23" name="Text 19"/>
          <p:cNvSpPr/>
          <p:nvPr/>
        </p:nvSpPr>
        <p:spPr>
          <a:xfrm>
            <a:off x="7066280" y="3959861"/>
            <a:ext cx="27940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B6475"/>
                </a:solidFill>
                <a:latin typeface="IBM Plex Sans" pitchFamily="34" charset="0"/>
                <a:ea typeface="IBM Plex Sans" pitchFamily="34" charset="-122"/>
                <a:cs typeface="IBM Plex Sans" pitchFamily="34" charset="-120"/>
              </a:rPr>
              <a:t>—</a:t>
            </a:r>
            <a:endParaRPr lang="en-US" sz="1300" dirty="0"/>
          </a:p>
        </p:txBody>
      </p:sp>
      <p:sp>
        <p:nvSpPr>
          <p:cNvPr id="24" name="Text 20"/>
          <p:cNvSpPr/>
          <p:nvPr/>
        </p:nvSpPr>
        <p:spPr>
          <a:xfrm>
            <a:off x="7396480" y="3959861"/>
            <a:ext cx="2659367"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B6475"/>
                </a:solidFill>
                <a:latin typeface="IBM Plex Sans" pitchFamily="34" charset="0"/>
                <a:ea typeface="IBM Plex Sans" pitchFamily="34" charset="-122"/>
                <a:cs typeface="IBM Plex Sans" pitchFamily="34" charset="-120"/>
              </a:rPr>
              <a:t>preferred_milk (unticked = denied)</a:t>
            </a:r>
            <a:endParaRPr lang="en-US" sz="1300" dirty="0"/>
          </a:p>
        </p:txBody>
      </p:sp>
      <p:sp>
        <p:nvSpPr>
          <p:cNvPr id="25" name="Shape 21"/>
          <p:cNvSpPr/>
          <p:nvPr/>
        </p:nvSpPr>
        <p:spPr>
          <a:xfrm>
            <a:off x="7066280" y="4305300"/>
            <a:ext cx="1411684" cy="358140"/>
          </a:xfrm>
          <a:prstGeom prst="roundRect">
            <a:avLst>
              <a:gd name="adj" fmla="val 17730"/>
            </a:avLst>
          </a:prstGeom>
          <a:solidFill>
            <a:srgbClr val="2F6FDE"/>
          </a:solidFill>
          <a:ln/>
        </p:spPr>
      </p:sp>
      <p:sp>
        <p:nvSpPr>
          <p:cNvPr id="26" name="Text 22"/>
          <p:cNvSpPr/>
          <p:nvPr/>
        </p:nvSpPr>
        <p:spPr>
          <a:xfrm>
            <a:off x="7218680" y="4368800"/>
            <a:ext cx="1157684"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7F6F2"/>
                </a:solidFill>
                <a:latin typeface="IBM Plex Sans" pitchFamily="34" charset="0"/>
                <a:ea typeface="IBM Plex Sans" pitchFamily="34" charset="-122"/>
                <a:cs typeface="IBM Plex Sans" pitchFamily="34" charset="-120"/>
              </a:rPr>
              <a:t>Approve 2 of 3</a:t>
            </a:r>
            <a:endParaRPr lang="en-US" sz="1300" dirty="0"/>
          </a:p>
        </p:txBody>
      </p:sp>
      <p:sp>
        <p:nvSpPr>
          <p:cNvPr id="27" name="Shape 23"/>
          <p:cNvSpPr/>
          <p:nvPr/>
        </p:nvSpPr>
        <p:spPr>
          <a:xfrm>
            <a:off x="8585915" y="4311650"/>
            <a:ext cx="779224" cy="345440"/>
          </a:xfrm>
          <a:prstGeom prst="roundRect">
            <a:avLst>
              <a:gd name="adj" fmla="val 16544"/>
            </a:avLst>
          </a:prstGeom>
          <a:noFill/>
          <a:ln w="12700">
            <a:solidFill>
              <a:srgbClr val="B4432F"/>
            </a:solidFill>
            <a:prstDash val="solid"/>
          </a:ln>
        </p:spPr>
      </p:sp>
      <p:sp>
        <p:nvSpPr>
          <p:cNvPr id="28" name="Text 24"/>
          <p:cNvSpPr/>
          <p:nvPr/>
        </p:nvSpPr>
        <p:spPr>
          <a:xfrm>
            <a:off x="8742125" y="4366260"/>
            <a:ext cx="517604" cy="2616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4432F"/>
                </a:solidFill>
                <a:latin typeface="IBM Plex Sans" pitchFamily="34" charset="0"/>
                <a:ea typeface="IBM Plex Sans" pitchFamily="34" charset="-122"/>
                <a:cs typeface="IBM Plex Sans" pitchFamily="34" charset="-120"/>
              </a:rPr>
              <a:t>Reject</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6FDE"/>
                </a:solidFill>
                <a:latin typeface="Rubik" pitchFamily="34" charset="0"/>
                <a:ea typeface="Rubik" pitchFamily="34" charset="-122"/>
                <a:cs typeface="Rubik" pitchFamily="34" charset="-120"/>
              </a:rPr>
              <a:t>CROSS-AGENT WRITE</a:t>
            </a:r>
            <a:endParaRPr lang="en-US" sz="1200" dirty="0"/>
          </a:p>
        </p:txBody>
      </p:sp>
      <p:sp>
        <p:nvSpPr>
          <p:cNvPr id="3" name="Text 1"/>
          <p:cNvSpPr/>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Rubik" pitchFamily="34" charset="0"/>
                <a:ea typeface="Rubik" pitchFamily="34" charset="-122"/>
                <a:cs typeface="Rubik" pitchFamily="34" charset="-120"/>
              </a:rPr>
              <a:t>Tell one agent, and every approved agent knows</a:t>
            </a:r>
            <a:endParaRPr lang="en-US" sz="3200" dirty="0"/>
          </a:p>
        </p:txBody>
      </p:sp>
      <p:sp>
        <p:nvSpPr>
          <p:cNvPr id="4" name="Shape 2"/>
          <p:cNvSpPr/>
          <p:nvPr/>
        </p:nvSpPr>
        <p:spPr>
          <a:xfrm>
            <a:off x="812800" y="1854200"/>
            <a:ext cx="2937907" cy="1271270"/>
          </a:xfrm>
          <a:prstGeom prst="roundRect">
            <a:avLst>
              <a:gd name="adj" fmla="val 7992"/>
            </a:avLst>
          </a:prstGeom>
          <a:solidFill>
            <a:srgbClr val="FFFFFF"/>
          </a:solidFill>
          <a:ln/>
        </p:spPr>
      </p:sp>
      <p:sp>
        <p:nvSpPr>
          <p:cNvPr id="5" name="Shape 3"/>
          <p:cNvSpPr/>
          <p:nvPr/>
        </p:nvSpPr>
        <p:spPr>
          <a:xfrm>
            <a:off x="812800" y="1854200"/>
            <a:ext cx="2937907" cy="1271270"/>
          </a:xfrm>
          <a:custGeom>
            <a:avLst/>
            <a:gdLst/>
            <a:ahLst/>
            <a:cxnLst/>
            <a:rect l="l" t="t" r="r" b="b"/>
            <a:pathLst>
              <a:path w="2937907" h="1271270">
                <a:moveTo>
                  <a:pt x="0" y="101600"/>
                </a:moveTo>
                <a:lnTo>
                  <a:pt x="0" y="101600"/>
                </a:lnTo>
                <a:arcTo hR="101600" wR="101600" stAng="10800000" swAng="5400000"/>
                <a:lnTo>
                  <a:pt x="2836307" y="0"/>
                </a:lnTo>
                <a:arcTo hR="101600" wR="101600" stAng="16200000" swAng="5400000"/>
                <a:lnTo>
                  <a:pt x="2937907" y="101600"/>
                </a:lnTo>
                <a:arcTo hR="38100" wR="101600" stAng="0" swAng="-5400000"/>
                <a:lnTo>
                  <a:pt x="101600" y="63500"/>
                </a:lnTo>
                <a:arcTo hR="38100" wR="101600" stAng="16200000" swAng="-5400000"/>
                <a:close/>
              </a:path>
            </a:pathLst>
          </a:custGeom>
          <a:solidFill>
            <a:srgbClr val="E8913A"/>
          </a:solidFill>
          <a:ln/>
        </p:spPr>
      </p:sp>
      <p:sp>
        <p:nvSpPr>
          <p:cNvPr id="6" name="Text 4"/>
          <p:cNvSpPr/>
          <p:nvPr/>
        </p:nvSpPr>
        <p:spPr>
          <a:xfrm>
            <a:off x="1016000" y="2118361"/>
            <a:ext cx="260745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5"/>
                </a:solidFill>
                <a:latin typeface="IBM Plex Sans" pitchFamily="34" charset="0"/>
                <a:ea typeface="IBM Plex Sans" pitchFamily="34" charset="-122"/>
                <a:cs typeface="IBM Plex Sans" pitchFamily="34" charset="-120"/>
              </a:rPr>
              <a:t>Customer to Cooklist</a:t>
            </a:r>
            <a:endParaRPr lang="en-US" sz="1200" dirty="0"/>
          </a:p>
        </p:txBody>
      </p:sp>
      <p:sp>
        <p:nvSpPr>
          <p:cNvPr id="7" name="Text 5"/>
          <p:cNvSpPr/>
          <p:nvPr/>
        </p:nvSpPr>
        <p:spPr>
          <a:xfrm>
            <a:off x="1016000" y="2407921"/>
            <a:ext cx="2607452"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4213D"/>
                </a:solidFill>
                <a:latin typeface="IBM Plex Sans" pitchFamily="34" charset="0"/>
                <a:ea typeface="IBM Plex Sans" pitchFamily="34" charset="-122"/>
                <a:cs typeface="IBM Plex Sans" pitchFamily="34" charset="-120"/>
              </a:rPr>
              <a:t>"Switch my organic brand to Private Selection."</a:t>
            </a:r>
            <a:endParaRPr lang="en-US" sz="1500" dirty="0"/>
          </a:p>
        </p:txBody>
      </p:sp>
      <p:pic>
        <p:nvPicPr>
          <p:cNvPr id="8" name="Image 0" descr="connector">    </p:cNvPr>
          <p:cNvPicPr>
            <a:picLocks noChangeAspect="1"/>
          </p:cNvPicPr>
          <p:nvPr/>
        </p:nvPicPr>
        <p:blipFill>
          <a:blip r:embed="rId1"/>
          <a:srcRect l="0" r="0" t="0" b="0"/>
          <a:stretch/>
        </p:blipFill>
        <p:spPr>
          <a:xfrm>
            <a:off x="3903107" y="2413636"/>
            <a:ext cx="571500" cy="152400"/>
          </a:xfrm>
          <a:prstGeom prst="rect">
            <a:avLst/>
          </a:prstGeom>
        </p:spPr>
      </p:pic>
      <p:sp>
        <p:nvSpPr>
          <p:cNvPr id="9" name="Shape 6"/>
          <p:cNvSpPr/>
          <p:nvPr/>
        </p:nvSpPr>
        <p:spPr>
          <a:xfrm>
            <a:off x="4627007" y="1854200"/>
            <a:ext cx="2937986" cy="1271270"/>
          </a:xfrm>
          <a:prstGeom prst="roundRect">
            <a:avLst>
              <a:gd name="adj" fmla="val 7992"/>
            </a:avLst>
          </a:prstGeom>
          <a:solidFill>
            <a:srgbClr val="FFFFFF"/>
          </a:solidFill>
          <a:ln/>
        </p:spPr>
      </p:sp>
      <p:sp>
        <p:nvSpPr>
          <p:cNvPr id="10" name="Shape 7"/>
          <p:cNvSpPr/>
          <p:nvPr/>
        </p:nvSpPr>
        <p:spPr>
          <a:xfrm>
            <a:off x="4627007" y="1854200"/>
            <a:ext cx="2937986" cy="1271270"/>
          </a:xfrm>
          <a:custGeom>
            <a:avLst/>
            <a:gdLst/>
            <a:ahLst/>
            <a:cxnLst/>
            <a:rect l="l" t="t" r="r" b="b"/>
            <a:pathLst>
              <a:path w="2937986" h="1271270">
                <a:moveTo>
                  <a:pt x="0" y="101600"/>
                </a:moveTo>
                <a:lnTo>
                  <a:pt x="0" y="101600"/>
                </a:lnTo>
                <a:arcTo hR="101600" wR="101600" stAng="10800000" swAng="5400000"/>
                <a:lnTo>
                  <a:pt x="2836386" y="0"/>
                </a:lnTo>
                <a:arcTo hR="101600" wR="101600" stAng="16200000" swAng="5400000"/>
                <a:lnTo>
                  <a:pt x="2937986" y="101600"/>
                </a:lnTo>
                <a:arcTo hR="38100" wR="101600" stAng="0" swAng="-5400000"/>
                <a:lnTo>
                  <a:pt x="101600" y="63500"/>
                </a:lnTo>
                <a:arcTo hR="38100" wR="101600" stAng="16200000" swAng="-5400000"/>
                <a:close/>
              </a:path>
            </a:pathLst>
          </a:custGeom>
          <a:solidFill>
            <a:srgbClr val="2F6FDE"/>
          </a:solidFill>
          <a:ln/>
        </p:spPr>
      </p:sp>
      <p:sp>
        <p:nvSpPr>
          <p:cNvPr id="11" name="Text 8"/>
          <p:cNvSpPr/>
          <p:nvPr/>
        </p:nvSpPr>
        <p:spPr>
          <a:xfrm>
            <a:off x="4830207" y="2118361"/>
            <a:ext cx="260753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5"/>
                </a:solidFill>
                <a:latin typeface="IBM Plex Sans" pitchFamily="34" charset="0"/>
                <a:ea typeface="IBM Plex Sans" pitchFamily="34" charset="-122"/>
                <a:cs typeface="IBM Plex Sans" pitchFamily="34" charset="-120"/>
              </a:rPr>
              <a:t>Saved in KSA's preferences</a:t>
            </a:r>
            <a:endParaRPr lang="en-US" sz="1200" dirty="0"/>
          </a:p>
        </p:txBody>
      </p:sp>
      <p:sp>
        <p:nvSpPr>
          <p:cNvPr id="12" name="Text 9"/>
          <p:cNvSpPr/>
          <p:nvPr/>
        </p:nvSpPr>
        <p:spPr>
          <a:xfrm>
            <a:off x="4830207" y="2407921"/>
            <a:ext cx="2607534"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4213D"/>
                </a:solidFill>
                <a:latin typeface="IBM Plex Sans" pitchFamily="34" charset="0"/>
                <a:ea typeface="IBM Plex Sans" pitchFamily="34" charset="-122"/>
                <a:cs typeface="IBM Plex Sans" pitchFamily="34" charset="-120"/>
              </a:rPr>
              <a:t>organic_brand = Private Selection</a:t>
            </a:r>
            <a:endParaRPr lang="en-US" sz="1500" dirty="0"/>
          </a:p>
        </p:txBody>
      </p:sp>
      <p:pic>
        <p:nvPicPr>
          <p:cNvPr id="13" name="Image 1" descr="connector">    </p:cNvPr>
          <p:cNvPicPr>
            <a:picLocks noChangeAspect="1"/>
          </p:cNvPicPr>
          <p:nvPr/>
        </p:nvPicPr>
        <p:blipFill>
          <a:blip r:embed="rId2"/>
          <a:srcRect l="0" r="0" t="0" b="0"/>
          <a:stretch/>
        </p:blipFill>
        <p:spPr>
          <a:xfrm>
            <a:off x="7717393" y="2413636"/>
            <a:ext cx="571500" cy="152400"/>
          </a:xfrm>
          <a:prstGeom prst="rect">
            <a:avLst/>
          </a:prstGeom>
        </p:spPr>
      </p:pic>
      <p:sp>
        <p:nvSpPr>
          <p:cNvPr id="14" name="Shape 10"/>
          <p:cNvSpPr/>
          <p:nvPr/>
        </p:nvSpPr>
        <p:spPr>
          <a:xfrm>
            <a:off x="8441293" y="1854200"/>
            <a:ext cx="2937907" cy="1271270"/>
          </a:xfrm>
          <a:prstGeom prst="roundRect">
            <a:avLst>
              <a:gd name="adj" fmla="val 7992"/>
            </a:avLst>
          </a:prstGeom>
          <a:solidFill>
            <a:srgbClr val="FFFFFF"/>
          </a:solidFill>
          <a:ln/>
        </p:spPr>
      </p:sp>
      <p:sp>
        <p:nvSpPr>
          <p:cNvPr id="15" name="Shape 11"/>
          <p:cNvSpPr/>
          <p:nvPr/>
        </p:nvSpPr>
        <p:spPr>
          <a:xfrm>
            <a:off x="8441293" y="1854200"/>
            <a:ext cx="2937907" cy="1271270"/>
          </a:xfrm>
          <a:custGeom>
            <a:avLst/>
            <a:gdLst/>
            <a:ahLst/>
            <a:cxnLst/>
            <a:rect l="l" t="t" r="r" b="b"/>
            <a:pathLst>
              <a:path w="2937907" h="1271270">
                <a:moveTo>
                  <a:pt x="0" y="101600"/>
                </a:moveTo>
                <a:lnTo>
                  <a:pt x="0" y="101600"/>
                </a:lnTo>
                <a:arcTo hR="101600" wR="101600" stAng="10800000" swAng="5400000"/>
                <a:lnTo>
                  <a:pt x="2836307" y="0"/>
                </a:lnTo>
                <a:arcTo hR="101600" wR="101600" stAng="16200000" swAng="5400000"/>
                <a:lnTo>
                  <a:pt x="2937907" y="101600"/>
                </a:lnTo>
                <a:arcTo hR="38100" wR="101600" stAng="0" swAng="-5400000"/>
                <a:lnTo>
                  <a:pt x="101600" y="63500"/>
                </a:lnTo>
                <a:arcTo hR="38100" wR="101600" stAng="16200000" swAng="-5400000"/>
                <a:close/>
              </a:path>
            </a:pathLst>
          </a:custGeom>
          <a:solidFill>
            <a:srgbClr val="2F6FDE"/>
          </a:solidFill>
          <a:ln/>
        </p:spPr>
      </p:sp>
      <p:sp>
        <p:nvSpPr>
          <p:cNvPr id="16" name="Text 12"/>
          <p:cNvSpPr/>
          <p:nvPr/>
        </p:nvSpPr>
        <p:spPr>
          <a:xfrm>
            <a:off x="8644493" y="2118361"/>
            <a:ext cx="260745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5"/>
                </a:solidFill>
                <a:latin typeface="IBM Plex Sans" pitchFamily="34" charset="0"/>
                <a:ea typeface="IBM Plex Sans" pitchFamily="34" charset="-122"/>
                <a:cs typeface="IBM Plex Sans" pitchFamily="34" charset="-120"/>
              </a:rPr>
              <a:t>Customer to KSA, next session</a:t>
            </a:r>
            <a:endParaRPr lang="en-US" sz="1200" dirty="0"/>
          </a:p>
        </p:txBody>
      </p:sp>
      <p:sp>
        <p:nvSpPr>
          <p:cNvPr id="17" name="Text 13"/>
          <p:cNvSpPr/>
          <p:nvPr/>
        </p:nvSpPr>
        <p:spPr>
          <a:xfrm>
            <a:off x="8644493" y="2407921"/>
            <a:ext cx="2607452"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4213D"/>
                </a:solidFill>
                <a:latin typeface="IBM Plex Sans" pitchFamily="34" charset="0"/>
                <a:ea typeface="IBM Plex Sans" pitchFamily="34" charset="-122"/>
                <a:cs typeface="IBM Plex Sans" pitchFamily="34" charset="-120"/>
              </a:rPr>
              <a:t>Shops with Private Selection. One value, no copy.</a:t>
            </a:r>
            <a:endParaRPr lang="en-US" sz="1500" dirty="0"/>
          </a:p>
        </p:txBody>
      </p:sp>
      <p:sp>
        <p:nvSpPr>
          <p:cNvPr id="18" name="Text 14"/>
          <p:cNvSpPr/>
          <p:nvPr/>
        </p:nvSpPr>
        <p:spPr>
          <a:xfrm>
            <a:off x="812800" y="3404871"/>
            <a:ext cx="5441696"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Only approved preferences</a:t>
            </a:r>
            <a:r>
              <a:rPr lang="en-US" sz="1400" dirty="0">
                <a:solidFill>
                  <a:srgbClr val="14213D"/>
                </a:solidFill>
                <a:latin typeface="IBM Plex Sans" pitchFamily="34" charset="0"/>
                <a:ea typeface="IBM Plex Sans" pitchFamily="34" charset="-122"/>
                <a:cs typeface="IBM Plex Sans" pitchFamily="34" charset="-120"/>
              </a:rPr>
              <a:t> — whole-schema writes are refused</a:t>
            </a:r>
            <a:endParaRPr lang="en-US" sz="1400" dirty="0"/>
          </a:p>
        </p:txBody>
      </p:sp>
      <p:sp>
        <p:nvSpPr>
          <p:cNvPr id="19" name="Text 15"/>
          <p:cNvSpPr/>
          <p:nvPr/>
        </p:nvSpPr>
        <p:spPr>
          <a:xfrm>
            <a:off x="6096000" y="3404871"/>
            <a:ext cx="5441696"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Only what the customer said</a:t>
            </a:r>
            <a:r>
              <a:rPr lang="en-US" sz="1400" dirty="0">
                <a:solidFill>
                  <a:srgbClr val="14213D"/>
                </a:solidFill>
                <a:latin typeface="IBM Plex Sans" pitchFamily="34" charset="0"/>
                <a:ea typeface="IBM Plex Sans" pitchFamily="34" charset="-122"/>
                <a:cs typeface="IBM Plex Sans" pitchFamily="34" charset="-120"/>
              </a:rPr>
              <a:t> — inferred values are refused</a:t>
            </a:r>
            <a:endParaRPr lang="en-US" sz="1400" dirty="0"/>
          </a:p>
        </p:txBody>
      </p:sp>
      <p:sp>
        <p:nvSpPr>
          <p:cNvPr id="20" name="Text 16"/>
          <p:cNvSpPr/>
          <p:nvPr/>
        </p:nvSpPr>
        <p:spPr>
          <a:xfrm>
            <a:off x="812800" y="3653789"/>
            <a:ext cx="5441696"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Never health data</a:t>
            </a:r>
            <a:r>
              <a:rPr lang="en-US" sz="1400" dirty="0">
                <a:solidFill>
                  <a:srgbClr val="14213D"/>
                </a:solidFill>
                <a:latin typeface="IBM Plex Sans" pitchFamily="34" charset="0"/>
                <a:ea typeface="IBM Plex Sans" pitchFamily="34" charset="-122"/>
                <a:cs typeface="IBM Plex Sans" pitchFamily="34" charset="-120"/>
              </a:rPr>
              <a:t> — refused at request and at save</a:t>
            </a:r>
            <a:endParaRPr lang="en-US" sz="1400" dirty="0"/>
          </a:p>
        </p:txBody>
      </p:sp>
      <p:sp>
        <p:nvSpPr>
          <p:cNvPr id="21" name="Text 17"/>
          <p:cNvSpPr/>
          <p:nvPr/>
        </p:nvSpPr>
        <p:spPr>
          <a:xfrm>
            <a:off x="6096000" y="3653789"/>
            <a:ext cx="5441696"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Traceable</a:t>
            </a:r>
            <a:r>
              <a:rPr lang="en-US" sz="1400" dirty="0">
                <a:solidFill>
                  <a:srgbClr val="14213D"/>
                </a:solidFill>
                <a:latin typeface="IBM Plex Sans" pitchFamily="34" charset="0"/>
                <a:ea typeface="IBM Plex Sans" pitchFamily="34" charset="-122"/>
                <a:cs typeface="IBM Plex Sans" pitchFamily="34" charset="-120"/>
              </a:rPr>
              <a:t> — logged as delegated, with the writing agent</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FB4F5"/>
                </a:solidFill>
                <a:latin typeface="Rubik" pitchFamily="34" charset="0"/>
                <a:ea typeface="Rubik" pitchFamily="34" charset="-122"/>
                <a:cs typeface="Rubik" pitchFamily="34" charset="-120"/>
              </a:rPr>
              <a:t>ENFORCED ON EVERY CALL</a:t>
            </a:r>
            <a:endParaRPr lang="en-US" sz="1200" dirty="0"/>
          </a:p>
        </p:txBody>
      </p:sp>
      <p:sp>
        <p:nvSpPr>
          <p:cNvPr id="3" name="Text 1"/>
          <p:cNvSpPr/>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F7F6F2"/>
                </a:solidFill>
                <a:latin typeface="Rubik" pitchFamily="34" charset="0"/>
                <a:ea typeface="Rubik" pitchFamily="34" charset="-122"/>
                <a:cs typeface="Rubik" pitchFamily="34" charset="-120"/>
              </a:rPr>
              <a:t>The platform checks. The prompt doesn't have to.</a:t>
            </a:r>
            <a:endParaRPr lang="en-US" sz="3200" dirty="0"/>
          </a:p>
        </p:txBody>
      </p:sp>
      <p:sp>
        <p:nvSpPr>
          <p:cNvPr id="4" name="Shape 2"/>
          <p:cNvSpPr/>
          <p:nvPr/>
        </p:nvSpPr>
        <p:spPr>
          <a:xfrm>
            <a:off x="812800" y="1905000"/>
            <a:ext cx="3403600" cy="1645920"/>
          </a:xfrm>
          <a:prstGeom prst="roundRect">
            <a:avLst>
              <a:gd name="adj" fmla="val 6173"/>
            </a:avLst>
          </a:prstGeom>
          <a:solidFill>
            <a:srgbClr val="1F2F52"/>
          </a:solidFill>
          <a:ln/>
        </p:spPr>
      </p:sp>
      <p:pic>
        <p:nvPicPr>
          <p:cNvPr id="5" name="Image 0" descr="Users">    </p:cNvPr>
          <p:cNvPicPr>
            <a:picLocks noChangeAspect="1"/>
          </p:cNvPicPr>
          <p:nvPr/>
        </p:nvPicPr>
        <p:blipFill>
          <a:blip r:embed="rId1"/>
          <a:srcRect l="0" r="0" t="0" b="0"/>
          <a:stretch/>
        </p:blipFill>
        <p:spPr>
          <a:xfrm>
            <a:off x="1041400" y="2133600"/>
            <a:ext cx="304800" cy="304800"/>
          </a:xfrm>
          <a:prstGeom prst="rect">
            <a:avLst/>
          </a:prstGeom>
        </p:spPr>
      </p:pic>
      <p:sp>
        <p:nvSpPr>
          <p:cNvPr id="6" name="Text 3"/>
          <p:cNvSpPr/>
          <p:nvPr/>
        </p:nvSpPr>
        <p:spPr>
          <a:xfrm>
            <a:off x="1041400" y="2527300"/>
            <a:ext cx="3034792"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7F6F2"/>
                </a:solidFill>
                <a:latin typeface="Rubik" pitchFamily="34" charset="0"/>
                <a:ea typeface="Rubik" pitchFamily="34" charset="-122"/>
                <a:cs typeface="Rubik" pitchFamily="34" charset="-120"/>
              </a:rPr>
              <a:t>One customer only</a:t>
            </a:r>
            <a:endParaRPr lang="en-US" sz="1600" dirty="0"/>
          </a:p>
        </p:txBody>
      </p:sp>
      <p:sp>
        <p:nvSpPr>
          <p:cNvPr id="7" name="Text 4"/>
          <p:cNvSpPr/>
          <p:nvPr/>
        </p:nvSpPr>
        <p:spPr>
          <a:xfrm>
            <a:off x="1041400" y="2860042"/>
            <a:ext cx="3034792"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3E6"/>
                </a:solidFill>
                <a:latin typeface="IBM Plex Sans" pitchFamily="34" charset="0"/>
                <a:ea typeface="IBM Plex Sans" pitchFamily="34" charset="-122"/>
                <a:cs typeface="IBM Plex Sans" pitchFamily="34" charset="-120"/>
              </a:rPr>
              <a:t>No agent can read another customer's memory.</a:t>
            </a:r>
            <a:endParaRPr lang="en-US" sz="1300" dirty="0"/>
          </a:p>
        </p:txBody>
      </p:sp>
      <p:sp>
        <p:nvSpPr>
          <p:cNvPr id="8" name="Shape 5"/>
          <p:cNvSpPr/>
          <p:nvPr/>
        </p:nvSpPr>
        <p:spPr>
          <a:xfrm>
            <a:off x="4394200" y="1905000"/>
            <a:ext cx="3403600" cy="1645920"/>
          </a:xfrm>
          <a:prstGeom prst="roundRect">
            <a:avLst>
              <a:gd name="adj" fmla="val 6173"/>
            </a:avLst>
          </a:prstGeom>
          <a:solidFill>
            <a:srgbClr val="1F2F52"/>
          </a:solidFill>
          <a:ln/>
        </p:spPr>
      </p:sp>
      <p:pic>
        <p:nvPicPr>
          <p:cNvPr id="9" name="Image 1" descr="Key">    </p:cNvPr>
          <p:cNvPicPr>
            <a:picLocks noChangeAspect="1"/>
          </p:cNvPicPr>
          <p:nvPr/>
        </p:nvPicPr>
        <p:blipFill>
          <a:blip r:embed="rId2"/>
          <a:srcRect l="0" r="0" t="0" b="0"/>
          <a:stretch/>
        </p:blipFill>
        <p:spPr>
          <a:xfrm>
            <a:off x="4622800" y="2133600"/>
            <a:ext cx="304800" cy="304800"/>
          </a:xfrm>
          <a:prstGeom prst="rect">
            <a:avLst/>
          </a:prstGeom>
        </p:spPr>
      </p:pic>
      <p:sp>
        <p:nvSpPr>
          <p:cNvPr id="10" name="Text 6"/>
          <p:cNvSpPr/>
          <p:nvPr/>
        </p:nvSpPr>
        <p:spPr>
          <a:xfrm>
            <a:off x="4622800" y="2527300"/>
            <a:ext cx="3034792"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7F6F2"/>
                </a:solidFill>
                <a:latin typeface="Rubik" pitchFamily="34" charset="0"/>
                <a:ea typeface="Rubik" pitchFamily="34" charset="-122"/>
                <a:cs typeface="Rubik" pitchFamily="34" charset="-120"/>
              </a:rPr>
              <a:t>Approved only</a:t>
            </a:r>
            <a:endParaRPr lang="en-US" sz="1600" dirty="0"/>
          </a:p>
        </p:txBody>
      </p:sp>
      <p:sp>
        <p:nvSpPr>
          <p:cNvPr id="11" name="Text 7"/>
          <p:cNvSpPr/>
          <p:nvPr/>
        </p:nvSpPr>
        <p:spPr>
          <a:xfrm>
            <a:off x="4622800" y="2860042"/>
            <a:ext cx="3034792"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3E6"/>
                </a:solidFill>
                <a:latin typeface="IBM Plex Sans" pitchFamily="34" charset="0"/>
                <a:ea typeface="IBM Plex Sans" pitchFamily="34" charset="-122"/>
                <a:cs typeface="IBM Plex Sans" pitchFamily="34" charset="-120"/>
              </a:rPr>
              <a:t>Unapproved preferences never reach the agent.</a:t>
            </a:r>
            <a:endParaRPr lang="en-US" sz="1300" dirty="0"/>
          </a:p>
        </p:txBody>
      </p:sp>
      <p:sp>
        <p:nvSpPr>
          <p:cNvPr id="12" name="Shape 8"/>
          <p:cNvSpPr/>
          <p:nvPr/>
        </p:nvSpPr>
        <p:spPr>
          <a:xfrm>
            <a:off x="7975600" y="1905000"/>
            <a:ext cx="3403600" cy="1645920"/>
          </a:xfrm>
          <a:prstGeom prst="roundRect">
            <a:avLst>
              <a:gd name="adj" fmla="val 6173"/>
            </a:avLst>
          </a:prstGeom>
          <a:solidFill>
            <a:srgbClr val="1F2F52"/>
          </a:solidFill>
          <a:ln/>
        </p:spPr>
      </p:sp>
      <p:pic>
        <p:nvPicPr>
          <p:cNvPr id="13" name="Image 2" descr="Warning">    </p:cNvPr>
          <p:cNvPicPr>
            <a:picLocks noChangeAspect="1"/>
          </p:cNvPicPr>
          <p:nvPr/>
        </p:nvPicPr>
        <p:blipFill>
          <a:blip r:embed="rId3"/>
          <a:srcRect l="0" r="0" t="0" b="0"/>
          <a:stretch/>
        </p:blipFill>
        <p:spPr>
          <a:xfrm>
            <a:off x="8204200" y="2133600"/>
            <a:ext cx="304800" cy="304800"/>
          </a:xfrm>
          <a:prstGeom prst="rect">
            <a:avLst/>
          </a:prstGeom>
        </p:spPr>
      </p:pic>
      <p:sp>
        <p:nvSpPr>
          <p:cNvPr id="14" name="Text 9"/>
          <p:cNvSpPr/>
          <p:nvPr/>
        </p:nvSpPr>
        <p:spPr>
          <a:xfrm>
            <a:off x="8204200" y="2527300"/>
            <a:ext cx="3034792"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7F6F2"/>
                </a:solidFill>
                <a:latin typeface="Rubik" pitchFamily="34" charset="0"/>
                <a:ea typeface="Rubik" pitchFamily="34" charset="-122"/>
                <a:cs typeface="Rubik" pitchFamily="34" charset="-120"/>
              </a:rPr>
              <a:t>Content screened</a:t>
            </a:r>
            <a:endParaRPr lang="en-US" sz="1600" dirty="0"/>
          </a:p>
        </p:txBody>
      </p:sp>
      <p:sp>
        <p:nvSpPr>
          <p:cNvPr id="15" name="Text 10"/>
          <p:cNvSpPr/>
          <p:nvPr/>
        </p:nvSpPr>
        <p:spPr>
          <a:xfrm>
            <a:off x="8204200" y="2860042"/>
            <a:ext cx="3034792"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3E6"/>
                </a:solidFill>
                <a:latin typeface="IBM Plex Sans" pitchFamily="34" charset="0"/>
                <a:ea typeface="IBM Plex Sans" pitchFamily="34" charset="-122"/>
                <a:cs typeface="IBM Plex Sans" pitchFamily="34" charset="-120"/>
              </a:rPr>
              <a:t>Restricted content blocked; sensitive must be stated.</a:t>
            </a:r>
            <a:endParaRPr lang="en-US" sz="1300" dirty="0"/>
          </a:p>
        </p:txBody>
      </p:sp>
      <p:sp>
        <p:nvSpPr>
          <p:cNvPr id="16" name="Shape 11"/>
          <p:cNvSpPr/>
          <p:nvPr/>
        </p:nvSpPr>
        <p:spPr>
          <a:xfrm>
            <a:off x="812800" y="3728721"/>
            <a:ext cx="3403600" cy="1645920"/>
          </a:xfrm>
          <a:prstGeom prst="roundRect">
            <a:avLst>
              <a:gd name="adj" fmla="val 6173"/>
            </a:avLst>
          </a:prstGeom>
          <a:solidFill>
            <a:srgbClr val="1F2F52"/>
          </a:solidFill>
          <a:ln/>
        </p:spPr>
      </p:sp>
      <p:pic>
        <p:nvPicPr>
          <p:cNvPr id="17" name="Image 3" descr="Verified">    </p:cNvPr>
          <p:cNvPicPr>
            <a:picLocks noChangeAspect="1"/>
          </p:cNvPicPr>
          <p:nvPr/>
        </p:nvPicPr>
        <p:blipFill>
          <a:blip r:embed="rId4"/>
          <a:srcRect l="0" r="0" t="0" b="0"/>
          <a:stretch/>
        </p:blipFill>
        <p:spPr>
          <a:xfrm>
            <a:off x="1041400" y="3957321"/>
            <a:ext cx="304800" cy="304800"/>
          </a:xfrm>
          <a:prstGeom prst="rect">
            <a:avLst/>
          </a:prstGeom>
        </p:spPr>
      </p:pic>
      <p:sp>
        <p:nvSpPr>
          <p:cNvPr id="18" name="Text 12"/>
          <p:cNvSpPr/>
          <p:nvPr/>
        </p:nvSpPr>
        <p:spPr>
          <a:xfrm>
            <a:off x="1041400" y="4351021"/>
            <a:ext cx="3034792"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7F6F2"/>
                </a:solidFill>
                <a:latin typeface="Rubik" pitchFamily="34" charset="0"/>
                <a:ea typeface="Rubik" pitchFamily="34" charset="-122"/>
                <a:cs typeface="Rubik" pitchFamily="34" charset="-120"/>
              </a:rPr>
              <a:t>Purpose limited</a:t>
            </a:r>
            <a:endParaRPr lang="en-US" sz="1600" dirty="0"/>
          </a:p>
        </p:txBody>
      </p:sp>
      <p:sp>
        <p:nvSpPr>
          <p:cNvPr id="19" name="Text 13"/>
          <p:cNvSpPr/>
          <p:nvPr/>
        </p:nvSpPr>
        <p:spPr>
          <a:xfrm>
            <a:off x="1041400" y="4683764"/>
            <a:ext cx="3034792"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3E6"/>
                </a:solidFill>
                <a:latin typeface="IBM Plex Sans" pitchFamily="34" charset="0"/>
                <a:ea typeface="IBM Plex Sans" pitchFamily="34" charset="-122"/>
                <a:cs typeface="IBM Plex Sans" pitchFamily="34" charset="-120"/>
              </a:rPr>
              <a:t>An agent's declared purpose must be allowed by the schema.</a:t>
            </a:r>
            <a:endParaRPr lang="en-US" sz="1300" dirty="0"/>
          </a:p>
        </p:txBody>
      </p:sp>
      <p:sp>
        <p:nvSpPr>
          <p:cNvPr id="20" name="Shape 14"/>
          <p:cNvSpPr/>
          <p:nvPr/>
        </p:nvSpPr>
        <p:spPr>
          <a:xfrm>
            <a:off x="4394200" y="3728721"/>
            <a:ext cx="3403600" cy="1645920"/>
          </a:xfrm>
          <a:prstGeom prst="roundRect">
            <a:avLst>
              <a:gd name="adj" fmla="val 6173"/>
            </a:avLst>
          </a:prstGeom>
          <a:solidFill>
            <a:srgbClr val="1F2F52"/>
          </a:solidFill>
          <a:ln/>
        </p:spPr>
      </p:sp>
      <p:pic>
        <p:nvPicPr>
          <p:cNvPr id="21" name="Image 4" descr="Clock">    </p:cNvPr>
          <p:cNvPicPr>
            <a:picLocks noChangeAspect="1"/>
          </p:cNvPicPr>
          <p:nvPr/>
        </p:nvPicPr>
        <p:blipFill>
          <a:blip r:embed="rId5"/>
          <a:srcRect l="0" r="0" t="0" b="0"/>
          <a:stretch/>
        </p:blipFill>
        <p:spPr>
          <a:xfrm>
            <a:off x="4622800" y="3957321"/>
            <a:ext cx="304800" cy="304800"/>
          </a:xfrm>
          <a:prstGeom prst="rect">
            <a:avLst/>
          </a:prstGeom>
        </p:spPr>
      </p:pic>
      <p:sp>
        <p:nvSpPr>
          <p:cNvPr id="22" name="Text 15"/>
          <p:cNvSpPr/>
          <p:nvPr/>
        </p:nvSpPr>
        <p:spPr>
          <a:xfrm>
            <a:off x="4622800" y="4351021"/>
            <a:ext cx="3034792"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7F6F2"/>
                </a:solidFill>
                <a:latin typeface="Rubik" pitchFamily="34" charset="0"/>
                <a:ea typeface="Rubik" pitchFamily="34" charset="-122"/>
                <a:cs typeface="Rubik" pitchFamily="34" charset="-120"/>
              </a:rPr>
              <a:t>Retention</a:t>
            </a:r>
            <a:endParaRPr lang="en-US" sz="1600" dirty="0"/>
          </a:p>
        </p:txBody>
      </p:sp>
      <p:sp>
        <p:nvSpPr>
          <p:cNvPr id="23" name="Text 16"/>
          <p:cNvSpPr/>
          <p:nvPr/>
        </p:nvSpPr>
        <p:spPr>
          <a:xfrm>
            <a:off x="4622800" y="4683764"/>
            <a:ext cx="3034792"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3E6"/>
                </a:solidFill>
                <a:latin typeface="IBM Plex Sans" pitchFamily="34" charset="0"/>
                <a:ea typeface="IBM Plex Sans" pitchFamily="34" charset="-122"/>
                <a:cs typeface="IBM Plex Sans" pitchFamily="34" charset="-120"/>
              </a:rPr>
              <a:t>Expired values are swept; customers can ask to forget.</a:t>
            </a:r>
            <a:endParaRPr lang="en-US" sz="1300" dirty="0"/>
          </a:p>
        </p:txBody>
      </p:sp>
      <p:sp>
        <p:nvSpPr>
          <p:cNvPr id="24" name="Shape 17"/>
          <p:cNvSpPr/>
          <p:nvPr/>
        </p:nvSpPr>
        <p:spPr>
          <a:xfrm>
            <a:off x="7975600" y="3728721"/>
            <a:ext cx="3403600" cy="1645920"/>
          </a:xfrm>
          <a:prstGeom prst="roundRect">
            <a:avLst>
              <a:gd name="adj" fmla="val 6173"/>
            </a:avLst>
          </a:prstGeom>
          <a:solidFill>
            <a:srgbClr val="1F2F52"/>
          </a:solidFill>
          <a:ln/>
        </p:spPr>
      </p:sp>
      <p:pic>
        <p:nvPicPr>
          <p:cNvPr id="25" name="Image 5" descr="Search">    </p:cNvPr>
          <p:cNvPicPr>
            <a:picLocks noChangeAspect="1"/>
          </p:cNvPicPr>
          <p:nvPr/>
        </p:nvPicPr>
        <p:blipFill>
          <a:blip r:embed="rId6"/>
          <a:srcRect l="0" r="0" t="0" b="0"/>
          <a:stretch/>
        </p:blipFill>
        <p:spPr>
          <a:xfrm>
            <a:off x="8204200" y="3957321"/>
            <a:ext cx="304800" cy="304800"/>
          </a:xfrm>
          <a:prstGeom prst="rect">
            <a:avLst/>
          </a:prstGeom>
        </p:spPr>
      </p:pic>
      <p:sp>
        <p:nvSpPr>
          <p:cNvPr id="26" name="Text 18"/>
          <p:cNvSpPr/>
          <p:nvPr/>
        </p:nvSpPr>
        <p:spPr>
          <a:xfrm>
            <a:off x="8204200" y="4351021"/>
            <a:ext cx="3034792"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7F6F2"/>
                </a:solidFill>
                <a:latin typeface="Rubik" pitchFamily="34" charset="0"/>
                <a:ea typeface="Rubik" pitchFamily="34" charset="-122"/>
                <a:cs typeface="Rubik" pitchFamily="34" charset="-120"/>
              </a:rPr>
              <a:t>Every decision logged</a:t>
            </a:r>
            <a:endParaRPr lang="en-US" sz="1600" dirty="0"/>
          </a:p>
        </p:txBody>
      </p:sp>
      <p:sp>
        <p:nvSpPr>
          <p:cNvPr id="27" name="Text 19"/>
          <p:cNvSpPr/>
          <p:nvPr/>
        </p:nvSpPr>
        <p:spPr>
          <a:xfrm>
            <a:off x="8204200" y="4683764"/>
            <a:ext cx="3034792"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3E6"/>
                </a:solidFill>
                <a:latin typeface="IBM Plex Sans" pitchFamily="34" charset="0"/>
                <a:ea typeface="IBM Plex Sans" pitchFamily="34" charset="-122"/>
                <a:cs typeface="IBM Plex Sans" pitchFamily="34" charset="-120"/>
              </a:rPr>
              <a:t>Saved, refused or declined, with sensitive values masked.</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6FDE"/>
                </a:solidFill>
                <a:latin typeface="Rubik" pitchFamily="34" charset="0"/>
                <a:ea typeface="Rubik" pitchFamily="34" charset="-122"/>
                <a:cs typeface="Rubik" pitchFamily="34" charset="-120"/>
              </a:rPr>
              <a:t>WHEN A SCHEMA CHANGES</a:t>
            </a:r>
            <a:endParaRPr lang="en-US" sz="1200" dirty="0"/>
          </a:p>
        </p:txBody>
      </p:sp>
      <p:sp>
        <p:nvSpPr>
          <p:cNvPr id="3" name="Text 1"/>
          <p:cNvSpPr/>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Rubik" pitchFamily="34" charset="0"/>
                <a:ea typeface="Rubik" pitchFamily="34" charset="-122"/>
                <a:cs typeface="Rubik" pitchFamily="34" charset="-120"/>
              </a:rPr>
              <a:t>New versions only add. Approvals keep working.</a:t>
            </a:r>
            <a:endParaRPr lang="en-US" sz="3200" dirty="0"/>
          </a:p>
        </p:txBody>
      </p:sp>
      <p:sp>
        <p:nvSpPr>
          <p:cNvPr id="4" name="Shape 2"/>
          <p:cNvSpPr/>
          <p:nvPr/>
        </p:nvSpPr>
        <p:spPr>
          <a:xfrm>
            <a:off x="815975" y="1918339"/>
            <a:ext cx="3295650" cy="1042670"/>
          </a:xfrm>
          <a:prstGeom prst="roundRect">
            <a:avLst>
              <a:gd name="adj" fmla="val 9440"/>
            </a:avLst>
          </a:prstGeom>
          <a:solidFill>
            <a:srgbClr val="FFFFFF"/>
          </a:solidFill>
          <a:ln w="6350">
            <a:solidFill>
              <a:srgbClr val="DDE2EA"/>
            </a:solidFill>
            <a:prstDash val="solid"/>
          </a:ln>
        </p:spPr>
      </p:sp>
      <p:sp>
        <p:nvSpPr>
          <p:cNvPr id="5" name="Text 3"/>
          <p:cNvSpPr/>
          <p:nvPr/>
        </p:nvSpPr>
        <p:spPr>
          <a:xfrm>
            <a:off x="1046480" y="2148842"/>
            <a:ext cx="2919679"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Rubik" pitchFamily="34" charset="0"/>
                <a:ea typeface="Rubik" pitchFamily="34" charset="-122"/>
                <a:cs typeface="Rubik" pitchFamily="34" charset="-120"/>
              </a:rPr>
              <a:t>KSA · version 1</a:t>
            </a:r>
            <a:endParaRPr lang="en-US" sz="1800" dirty="0"/>
          </a:p>
        </p:txBody>
      </p:sp>
      <p:sp>
        <p:nvSpPr>
          <p:cNvPr id="6" name="Text 4"/>
          <p:cNvSpPr/>
          <p:nvPr/>
        </p:nvSpPr>
        <p:spPr>
          <a:xfrm>
            <a:off x="1046480" y="2499364"/>
            <a:ext cx="2919679"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organic_brand · dietary_restriction · …</a:t>
            </a:r>
            <a:endParaRPr lang="en-US" sz="1300" dirty="0"/>
          </a:p>
        </p:txBody>
      </p:sp>
      <p:pic>
        <p:nvPicPr>
          <p:cNvPr id="7" name="Image 0" descr="connector">    </p:cNvPr>
          <p:cNvPicPr>
            <a:picLocks noChangeAspect="1"/>
          </p:cNvPicPr>
          <p:nvPr/>
        </p:nvPicPr>
        <p:blipFill>
          <a:blip r:embed="rId1"/>
          <a:srcRect l="0" r="0" t="0" b="0"/>
          <a:stretch/>
        </p:blipFill>
        <p:spPr>
          <a:xfrm>
            <a:off x="4318000" y="2363471"/>
            <a:ext cx="762000" cy="152400"/>
          </a:xfrm>
          <a:prstGeom prst="rect">
            <a:avLst/>
          </a:prstGeom>
        </p:spPr>
      </p:pic>
      <p:sp>
        <p:nvSpPr>
          <p:cNvPr id="8" name="Shape 5"/>
          <p:cNvSpPr/>
          <p:nvPr/>
        </p:nvSpPr>
        <p:spPr>
          <a:xfrm>
            <a:off x="5292725" y="1914525"/>
            <a:ext cx="6076950" cy="1050290"/>
          </a:xfrm>
          <a:prstGeom prst="roundRect">
            <a:avLst>
              <a:gd name="adj" fmla="val 8767"/>
            </a:avLst>
          </a:prstGeom>
          <a:solidFill>
            <a:srgbClr val="FFFFFF"/>
          </a:solidFill>
          <a:ln w="19050">
            <a:solidFill>
              <a:srgbClr val="2F6FDE"/>
            </a:solidFill>
            <a:prstDash val="solid"/>
          </a:ln>
        </p:spPr>
      </p:sp>
      <p:sp>
        <p:nvSpPr>
          <p:cNvPr id="9" name="Text 6"/>
          <p:cNvSpPr/>
          <p:nvPr/>
        </p:nvSpPr>
        <p:spPr>
          <a:xfrm>
            <a:off x="5527040" y="2148842"/>
            <a:ext cx="577657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Rubik" pitchFamily="34" charset="0"/>
                <a:ea typeface="Rubik" pitchFamily="34" charset="-122"/>
                <a:cs typeface="Rubik" pitchFamily="34" charset="-120"/>
              </a:rPr>
              <a:t>KSA · version 2</a:t>
            </a:r>
            <a:endParaRPr lang="en-US" sz="1800" dirty="0"/>
          </a:p>
        </p:txBody>
      </p:sp>
      <p:sp>
        <p:nvSpPr>
          <p:cNvPr id="10" name="Text 7"/>
          <p:cNvSpPr/>
          <p:nvPr/>
        </p:nvSpPr>
        <p:spPr>
          <a:xfrm>
            <a:off x="5527040" y="2499364"/>
            <a:ext cx="577657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everything in v1 + </a:t>
            </a:r>
            <a:r>
              <a:rPr lang="en-US" sz="1300" b="1" dirty="0">
                <a:solidFill>
                  <a:srgbClr val="14213D"/>
                </a:solidFill>
                <a:latin typeface="IBM Plex Sans" pitchFamily="34" charset="0"/>
                <a:ea typeface="IBM Plex Sans" pitchFamily="34" charset="-122"/>
                <a:cs typeface="IBM Plex Sans" pitchFamily="34" charset="-120"/>
              </a:rPr>
              <a:t>preferred_size</a:t>
            </a:r>
            <a:r>
              <a:rPr lang="en-US" sz="1300" dirty="0">
                <a:solidFill>
                  <a:srgbClr val="14213D"/>
                </a:solidFill>
                <a:latin typeface="IBM Plex Sans" pitchFamily="34" charset="0"/>
                <a:ea typeface="IBM Plex Sans" pitchFamily="34" charset="-122"/>
                <a:cs typeface="IBM Plex Sans" pitchFamily="34" charset="-120"/>
              </a:rPr>
              <a:t> (new)</a:t>
            </a:r>
            <a:endParaRPr lang="en-US" sz="1300" dirty="0"/>
          </a:p>
        </p:txBody>
      </p:sp>
      <p:sp>
        <p:nvSpPr>
          <p:cNvPr id="11" name="Text 8"/>
          <p:cNvSpPr/>
          <p:nvPr/>
        </p:nvSpPr>
        <p:spPr>
          <a:xfrm>
            <a:off x="812800" y="3304542"/>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Nothing is removed or renamed</a:t>
            </a:r>
            <a:r>
              <a:rPr lang="en-US" sz="1500" dirty="0">
                <a:solidFill>
                  <a:srgbClr val="14213D"/>
                </a:solidFill>
                <a:latin typeface="IBM Plex Sans" pitchFamily="34" charset="0"/>
                <a:ea typeface="IBM Plex Sans" pitchFamily="34" charset="-122"/>
                <a:cs typeface="IBM Plex Sans" pitchFamily="34" charset="-120"/>
              </a:rPr>
              <a:t> — existing preferences and values carry over.</a:t>
            </a:r>
            <a:endParaRPr lang="en-US" sz="1500" dirty="0"/>
          </a:p>
        </p:txBody>
      </p:sp>
      <p:sp>
        <p:nvSpPr>
          <p:cNvPr id="12" name="Text 9"/>
          <p:cNvSpPr/>
          <p:nvPr/>
        </p:nvSpPr>
        <p:spPr>
          <a:xfrm>
            <a:off x="812800" y="3710942"/>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Approved access carries over</a:t>
            </a:r>
            <a:r>
              <a:rPr lang="en-US" sz="1500" dirty="0">
                <a:solidFill>
                  <a:srgbClr val="14213D"/>
                </a:solidFill>
                <a:latin typeface="IBM Plex Sans" pitchFamily="34" charset="0"/>
                <a:ea typeface="IBM Plex Sans" pitchFamily="34" charset="-122"/>
                <a:cs typeface="IBM Plex Sans" pitchFamily="34" charset="-120"/>
              </a:rPr>
              <a:t> — Cooklist's grant on organic_brand still works on v2.</a:t>
            </a:r>
            <a:endParaRPr lang="en-US" sz="1500" dirty="0"/>
          </a:p>
        </p:txBody>
      </p:sp>
      <p:sp>
        <p:nvSpPr>
          <p:cNvPr id="13" name="Text 10"/>
          <p:cNvSpPr/>
          <p:nvPr/>
        </p:nvSpPr>
        <p:spPr>
          <a:xfrm>
            <a:off x="812800" y="4117342"/>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New preferences are not shared automatically</a:t>
            </a:r>
            <a:r>
              <a:rPr lang="en-US" sz="1500" dirty="0">
                <a:solidFill>
                  <a:srgbClr val="14213D"/>
                </a:solidFill>
                <a:latin typeface="IBM Plex Sans" pitchFamily="34" charset="0"/>
                <a:ea typeface="IBM Plex Sans" pitchFamily="34" charset="-122"/>
                <a:cs typeface="IBM Plex Sans" pitchFamily="34" charset="-120"/>
              </a:rPr>
              <a:t> — preferred_size needs a new approval.</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EF1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6FDE"/>
                </a:solidFill>
                <a:latin typeface="Rubik" pitchFamily="34" charset="0"/>
                <a:ea typeface="Rubik" pitchFamily="34" charset="-122"/>
                <a:cs typeface="Rubik" pitchFamily="34" charset="-120"/>
              </a:rPr>
              <a:t>SETTING IT UP</a:t>
            </a:r>
            <a:endParaRPr lang="en-US" sz="1200" dirty="0"/>
          </a:p>
        </p:txBody>
      </p:sp>
      <p:sp>
        <p:nvSpPr>
          <p:cNvPr id="3" name="Text 1"/>
          <p:cNvSpPr/>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Rubik" pitchFamily="34" charset="0"/>
                <a:ea typeface="Rubik" pitchFamily="34" charset="-122"/>
                <a:cs typeface="Rubik" pitchFamily="34" charset="-120"/>
              </a:rPr>
              <a:t>One wizard for all three</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864360"/>
          <a:ext cx="10556240" cy="1783080"/>
        </p:xfrm>
        <a:graphic>
          <a:graphicData uri="http://schemas.openxmlformats.org/drawingml/2006/table">
            <a:tbl>
              <a:tblPr/>
              <a:tblGrid>
                <a:gridCol w="2111248"/>
                <a:gridCol w="3166872"/>
                <a:gridCol w="2744622"/>
                <a:gridCol w="2533498"/>
              </a:tblGrid>
              <a:tr h="383540">
                <a:tc>
                  <a:txBody>
                    <a:bodyPr/>
                    <a:lstStyle/>
                    <a:p>
                      <a:pP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Model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0C4"/>
                      </a:solidFill>
                      <a:prstDash val="solid"/>
                      <a:round/>
                      <a:headEnd type="none" w="med" len="med"/>
                      <a:tailEnd type="none" w="med" len="med"/>
                    </a:lnL>
                    <a:lnR w="12700" cap="flat" cmpd="sng" algn="ctr">
                      <a:solidFill>
                        <a:srgbClr val="B1B2B6"/>
                      </a:solidFill>
                      <a:prstDash val="solid"/>
                      <a:round/>
                      <a:headEnd type="none" w="med" len="med"/>
                      <a:tailEnd type="none" w="med" len="med"/>
                    </a:lnR>
                    <a:lnT w="12700" cap="flat" cmpd="sng" algn="ctr">
                      <a:solidFill>
                        <a:srgbClr val="BEC0C4"/>
                      </a:solidFill>
                      <a:prstDash val="solid"/>
                      <a:round/>
                      <a:headEnd type="none" w="med" len="med"/>
                      <a:tailEnd type="none" w="med" len="med"/>
                    </a:lnT>
                    <a:lnB w="12700" cap="flat" cmpd="sng" algn="ctr">
                      <a:solidFill>
                        <a:srgbClr val="B1B2B6"/>
                      </a:solidFill>
                      <a:prstDash val="solid"/>
                      <a:round/>
                      <a:headEnd type="none" w="med" len="med"/>
                      <a:tailEnd type="none" w="med" len="med"/>
                    </a:lnB>
                    <a:solidFill>
                      <a:srgbClr val="DDDFE4"/>
                    </a:solidFill>
                  </a:tcPr>
                </a:tc>
                <a:tc>
                  <a:txBody>
                    <a:bodyPr/>
                    <a:lstStyle/>
                    <a:p>
                      <a:pP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Preferences step</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1B2B6"/>
                      </a:solidFill>
                      <a:prstDash val="solid"/>
                      <a:round/>
                      <a:headEnd type="none" w="med" len="med"/>
                      <a:tailEnd type="none" w="med" len="med"/>
                    </a:lnL>
                    <a:lnR w="12700" cap="flat" cmpd="sng" algn="ctr">
                      <a:solidFill>
                        <a:srgbClr val="B1B2B6"/>
                      </a:solidFill>
                      <a:prstDash val="solid"/>
                      <a:round/>
                      <a:headEnd type="none" w="med" len="med"/>
                      <a:tailEnd type="none" w="med" len="med"/>
                    </a:lnR>
                    <a:lnT w="12700" cap="flat" cmpd="sng" algn="ctr">
                      <a:solidFill>
                        <a:srgbClr val="BEC0C4"/>
                      </a:solidFill>
                      <a:prstDash val="solid"/>
                      <a:round/>
                      <a:headEnd type="none" w="med" len="med"/>
                      <a:tailEnd type="none" w="med" len="med"/>
                    </a:lnT>
                    <a:lnB w="12700" cap="flat" cmpd="sng" algn="ctr">
                      <a:solidFill>
                        <a:srgbClr val="B1B2B6"/>
                      </a:solidFill>
                      <a:prstDash val="solid"/>
                      <a:round/>
                      <a:headEnd type="none" w="med" len="med"/>
                      <a:tailEnd type="none" w="med" len="med"/>
                    </a:lnB>
                    <a:solidFill>
                      <a:srgbClr val="DDDFE4"/>
                    </a:solidFill>
                  </a:tcPr>
                </a:tc>
                <a:tc>
                  <a:txBody>
                    <a:bodyPr/>
                    <a:lstStyle/>
                    <a:p>
                      <a:pP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Sharing step</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1B2B6"/>
                      </a:solidFill>
                      <a:prstDash val="solid"/>
                      <a:round/>
                      <a:headEnd type="none" w="med" len="med"/>
                      <a:tailEnd type="none" w="med" len="med"/>
                    </a:lnL>
                    <a:lnR w="12700" cap="flat" cmpd="sng" algn="ctr">
                      <a:solidFill>
                        <a:srgbClr val="B1B2B6"/>
                      </a:solidFill>
                      <a:prstDash val="solid"/>
                      <a:round/>
                      <a:headEnd type="none" w="med" len="med"/>
                      <a:tailEnd type="none" w="med" len="med"/>
                    </a:lnR>
                    <a:lnT w="12700" cap="flat" cmpd="sng" algn="ctr">
                      <a:solidFill>
                        <a:srgbClr val="BEC0C4"/>
                      </a:solidFill>
                      <a:prstDash val="solid"/>
                      <a:round/>
                      <a:headEnd type="none" w="med" len="med"/>
                      <a:tailEnd type="none" w="med" len="med"/>
                    </a:lnT>
                    <a:lnB w="12700" cap="flat" cmpd="sng" algn="ctr">
                      <a:solidFill>
                        <a:srgbClr val="B1B2B6"/>
                      </a:solidFill>
                      <a:prstDash val="solid"/>
                      <a:round/>
                      <a:headEnd type="none" w="med" len="med"/>
                      <a:tailEnd type="none" w="med" len="med"/>
                    </a:lnB>
                    <a:solidFill>
                      <a:srgbClr val="DDDFE4"/>
                    </a:solidFill>
                  </a:tcPr>
                </a:tc>
                <a:tc>
                  <a:txBody>
                    <a:bodyPr/>
                    <a:lstStyle/>
                    <a:p>
                      <a:pP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Result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1B2B6"/>
                      </a:solidFill>
                      <a:prstDash val="solid"/>
                      <a:round/>
                      <a:headEnd type="none" w="med" len="med"/>
                      <a:tailEnd type="none" w="med" len="med"/>
                    </a:lnL>
                    <a:lnR w="12700" cap="flat" cmpd="sng" algn="ctr">
                      <a:solidFill>
                        <a:srgbClr val="B1B2B6"/>
                      </a:solidFill>
                      <a:prstDash val="solid"/>
                      <a:round/>
                      <a:headEnd type="none" w="med" len="med"/>
                      <a:tailEnd type="none" w="med" len="med"/>
                    </a:lnR>
                    <a:lnT w="12700" cap="flat" cmpd="sng" algn="ctr">
                      <a:solidFill>
                        <a:srgbClr val="BEC0C4"/>
                      </a:solidFill>
                      <a:prstDash val="solid"/>
                      <a:round/>
                      <a:headEnd type="none" w="med" len="med"/>
                      <a:tailEnd type="none" w="med" len="med"/>
                    </a:lnT>
                    <a:lnB w="12700" cap="flat" cmpd="sng" algn="ctr">
                      <a:solidFill>
                        <a:srgbClr val="B1B2B6"/>
                      </a:solidFill>
                      <a:prstDash val="solid"/>
                      <a:round/>
                      <a:headEnd type="none" w="med" len="med"/>
                      <a:tailEnd type="none" w="med" len="med"/>
                    </a:lnB>
                    <a:solidFill>
                      <a:srgbClr val="DDDFE4"/>
                    </a:solidFill>
                  </a:tcPr>
                </a:tc>
              </a:tr>
              <a:tr h="383540">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KSA · private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0C4"/>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1B2B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Create its own preferences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1B2B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Off</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1B2B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Active at once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1B2B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83540">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Cooklist · hybrid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0C4"/>
                      </a:solidFill>
                      <a:prstDash val="solid"/>
                      <a:round/>
                      <a:headEnd type="none" w="med" len="med"/>
                      <a:tailEnd type="none" w="med" len="med"/>
                    </a:lnL>
                    <a:lnR w="12700" cap="flat" cmpd="sng" algn="ctr">
                      <a:solidFill>
                        <a:srgbClr val="BEC0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4"/>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Create its own + tick KSA's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0C4"/>
                      </a:solidFill>
                      <a:prstDash val="solid"/>
                      <a:round/>
                      <a:headEnd type="none" w="med" len="med"/>
                      <a:tailEnd type="none" w="med" len="med"/>
                    </a:lnL>
                    <a:lnR w="12700" cap="flat" cmpd="sng" algn="ctr">
                      <a:solidFill>
                        <a:srgbClr val="BEC0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4"/>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KSA schema; write on or off</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0C4"/>
                      </a:solidFill>
                      <a:prstDash val="solid"/>
                      <a:round/>
                      <a:headEnd type="none" w="med" len="med"/>
                      <a:tailEnd type="none" w="med" len="med"/>
                    </a:lnL>
                    <a:lnR w="12700" cap="flat" cmpd="sng" algn="ctr">
                      <a:solidFill>
                        <a:srgbClr val="BEC0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4"/>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Waits for KSA's owner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0C4"/>
                      </a:solidFill>
                      <a:prstDash val="solid"/>
                      <a:round/>
                      <a:headEnd type="none" w="med" len="med"/>
                      <a:tailEnd type="none" w="med" len="med"/>
                    </a:lnL>
                    <a:lnR w="12700" cap="flat" cmpd="sng" algn="ctr">
                      <a:solidFill>
                        <a:srgbClr val="BEC0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4"/>
                      </a:solidFill>
                      <a:prstDash val="solid"/>
                      <a:round/>
                      <a:headEnd type="none" w="med" len="med"/>
                      <a:tailEnd type="none" w="med" len="med"/>
                    </a:lnB>
                  </a:tcPr>
                </a:tc>
              </a:tr>
              <a:tr h="632460">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Meal Planner · consumer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0C4"/>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0C4"/>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Tick KSA's only — shown as "Consumer only"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0C4"/>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KSA schema, read only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0C4"/>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Waits for KSA's owner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0C4"/>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bl>
          </a:graphicData>
        </a:graphic>
      </p:graphicFrame>
      <p:sp>
        <p:nvSpPr>
          <p:cNvPr id="5" name="Text 2"/>
          <p:cNvSpPr/>
          <p:nvPr/>
        </p:nvSpPr>
        <p:spPr>
          <a:xfrm>
            <a:off x="812800" y="3926842"/>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F4A5E"/>
                </a:solidFill>
                <a:latin typeface="IBM Plex Sans" pitchFamily="34" charset="0"/>
                <a:ea typeface="IBM Plex Sans" pitchFamily="34" charset="-122"/>
                <a:cs typeface="IBM Plex Sans" pitchFamily="34" charset="-120"/>
              </a:rPr>
              <a:t>Then: </a:t>
            </a:r>
            <a:r>
              <a:rPr lang="en-US" sz="1400" b="1" dirty="0">
                <a:solidFill>
                  <a:srgbClr val="3F4A5E"/>
                </a:solidFill>
                <a:latin typeface="IBM Plex Sans" pitchFamily="34" charset="0"/>
                <a:ea typeface="IBM Plex Sans" pitchFamily="34" charset="-122"/>
                <a:cs typeface="IBM Plex Sans" pitchFamily="34" charset="-120"/>
              </a:rPr>
              <a:t>Govern &amp; manage → Approvals</a:t>
            </a:r>
            <a:r>
              <a:rPr lang="en-US" sz="1400" dirty="0">
                <a:solidFill>
                  <a:srgbClr val="3F4A5E"/>
                </a:solidFill>
                <a:latin typeface="IBM Plex Sans" pitchFamily="34" charset="0"/>
                <a:ea typeface="IBM Plex Sans" pitchFamily="34" charset="-122"/>
                <a:cs typeface="IBM Plex Sans" pitchFamily="34" charset="-120"/>
              </a:rPr>
              <a:t>, where KSA's owner approves each preference.</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8913A"/>
                </a:solidFill>
                <a:latin typeface="Rubik" pitchFamily="34" charset="0"/>
                <a:ea typeface="Rubik" pitchFamily="34" charset="-122"/>
                <a:cs typeface="Rubik" pitchFamily="34" charset="-120"/>
              </a:rPr>
              <a:t>OPEN ITEMS</a:t>
            </a:r>
            <a:endParaRPr lang="en-US" sz="1200" dirty="0"/>
          </a:p>
        </p:txBody>
      </p:sp>
      <p:sp>
        <p:nvSpPr>
          <p:cNvPr id="3" name="Text 1"/>
          <p:cNvSpPr/>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Rubik" pitchFamily="34" charset="0"/>
                <a:ea typeface="Rubik" pitchFamily="34" charset="-122"/>
                <a:cs typeface="Rubik" pitchFamily="34" charset="-120"/>
              </a:rPr>
              <a:t>What we still need to decide</a:t>
            </a:r>
            <a:endParaRPr lang="en-US" sz="3200" dirty="0"/>
          </a:p>
        </p:txBody>
      </p:sp>
      <p:sp>
        <p:nvSpPr>
          <p:cNvPr id="4" name="Shape 2"/>
          <p:cNvSpPr/>
          <p:nvPr/>
        </p:nvSpPr>
        <p:spPr>
          <a:xfrm>
            <a:off x="812800" y="1854200"/>
            <a:ext cx="5194300" cy="1188720"/>
          </a:xfrm>
          <a:prstGeom prst="roundRect">
            <a:avLst>
              <a:gd name="adj" fmla="val 7479"/>
            </a:avLst>
          </a:prstGeom>
          <a:solidFill>
            <a:srgbClr val="FFFFFF"/>
          </a:solidFill>
          <a:ln/>
        </p:spPr>
      </p:sp>
      <p:sp>
        <p:nvSpPr>
          <p:cNvPr id="5" name="Shape 3"/>
          <p:cNvSpPr/>
          <p:nvPr/>
        </p:nvSpPr>
        <p:spPr>
          <a:xfrm>
            <a:off x="812800" y="1854200"/>
            <a:ext cx="5194300" cy="1188720"/>
          </a:xfrm>
          <a:custGeom>
            <a:avLst/>
            <a:gdLst/>
            <a:ahLst/>
            <a:cxnLst/>
            <a:rect l="l" t="t" r="r" b="b"/>
            <a:pathLst>
              <a:path w="5194300" h="1188720">
                <a:moveTo>
                  <a:pt x="88900" y="1188720"/>
                </a:moveTo>
                <a:lnTo>
                  <a:pt x="88900" y="1188720"/>
                </a:lnTo>
                <a:arcTo hR="88900" wR="88900" stAng="5400000" swAng="5400000"/>
                <a:lnTo>
                  <a:pt x="0" y="88900"/>
                </a:lnTo>
                <a:arcTo hR="88900" wR="88900" stAng="10800000" swAng="5400000"/>
                <a:lnTo>
                  <a:pt x="88900" y="0"/>
                </a:lnTo>
                <a:arcTo hR="88900" wR="38100" stAng="16200000" swAng="-5400000"/>
                <a:lnTo>
                  <a:pt x="50800" y="1099820"/>
                </a:lnTo>
                <a:arcTo hR="88900" wR="38100" stAng="10800000" swAng="-5400000"/>
                <a:close/>
              </a:path>
            </a:pathLst>
          </a:custGeom>
          <a:solidFill>
            <a:srgbClr val="E8913A"/>
          </a:solidFill>
          <a:ln/>
        </p:spPr>
      </p:sp>
      <p:sp>
        <p:nvSpPr>
          <p:cNvPr id="6" name="Text 4"/>
          <p:cNvSpPr/>
          <p:nvPr/>
        </p:nvSpPr>
        <p:spPr>
          <a:xfrm>
            <a:off x="1066800" y="2057400"/>
            <a:ext cx="4879213"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Rubik" pitchFamily="34" charset="0"/>
                <a:ea typeface="Rubik" pitchFamily="34" charset="-122"/>
                <a:cs typeface="Rubik" pitchFamily="34" charset="-120"/>
              </a:rPr>
              <a:t>Read and write share one list</a:t>
            </a:r>
            <a:endParaRPr lang="en-US" sz="1600" dirty="0"/>
          </a:p>
        </p:txBody>
      </p:sp>
      <p:sp>
        <p:nvSpPr>
          <p:cNvPr id="7" name="Text 5"/>
          <p:cNvSpPr/>
          <p:nvPr/>
        </p:nvSpPr>
        <p:spPr>
          <a:xfrm>
            <a:off x="1066800" y="2377442"/>
            <a:ext cx="4879213"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4A5E"/>
                </a:solidFill>
                <a:latin typeface="IBM Plex Sans" pitchFamily="34" charset="0"/>
                <a:ea typeface="IBM Plex Sans" pitchFamily="34" charset="-122"/>
                <a:cs typeface="IBM Plex Sans" pitchFamily="34" charset="-120"/>
              </a:rPr>
              <a:t>An agent can't yet read A and B but write only A.</a:t>
            </a:r>
            <a:endParaRPr lang="en-US" sz="1300" dirty="0"/>
          </a:p>
        </p:txBody>
      </p:sp>
      <p:sp>
        <p:nvSpPr>
          <p:cNvPr id="8" name="Shape 6"/>
          <p:cNvSpPr/>
          <p:nvPr/>
        </p:nvSpPr>
        <p:spPr>
          <a:xfrm>
            <a:off x="6184900" y="1854200"/>
            <a:ext cx="5194300" cy="1188720"/>
          </a:xfrm>
          <a:prstGeom prst="roundRect">
            <a:avLst>
              <a:gd name="adj" fmla="val 7479"/>
            </a:avLst>
          </a:prstGeom>
          <a:solidFill>
            <a:srgbClr val="FFFFFF"/>
          </a:solidFill>
          <a:ln/>
        </p:spPr>
      </p:sp>
      <p:sp>
        <p:nvSpPr>
          <p:cNvPr id="9" name="Shape 7"/>
          <p:cNvSpPr/>
          <p:nvPr/>
        </p:nvSpPr>
        <p:spPr>
          <a:xfrm>
            <a:off x="6184900" y="1854200"/>
            <a:ext cx="5194300" cy="1188720"/>
          </a:xfrm>
          <a:custGeom>
            <a:avLst/>
            <a:gdLst/>
            <a:ahLst/>
            <a:cxnLst/>
            <a:rect l="l" t="t" r="r" b="b"/>
            <a:pathLst>
              <a:path w="5194300" h="1188720">
                <a:moveTo>
                  <a:pt x="88900" y="1188720"/>
                </a:moveTo>
                <a:lnTo>
                  <a:pt x="88900" y="1188720"/>
                </a:lnTo>
                <a:arcTo hR="88900" wR="88900" stAng="5400000" swAng="5400000"/>
                <a:lnTo>
                  <a:pt x="0" y="88900"/>
                </a:lnTo>
                <a:arcTo hR="88900" wR="88900" stAng="10800000" swAng="5400000"/>
                <a:lnTo>
                  <a:pt x="88900" y="0"/>
                </a:lnTo>
                <a:arcTo hR="88900" wR="38100" stAng="16200000" swAng="-5400000"/>
                <a:lnTo>
                  <a:pt x="50800" y="1099820"/>
                </a:lnTo>
                <a:arcTo hR="88900" wR="38100" stAng="10800000" swAng="-5400000"/>
                <a:close/>
              </a:path>
            </a:pathLst>
          </a:custGeom>
          <a:solidFill>
            <a:srgbClr val="E8913A"/>
          </a:solidFill>
          <a:ln/>
        </p:spPr>
      </p:sp>
      <p:sp>
        <p:nvSpPr>
          <p:cNvPr id="10" name="Text 8"/>
          <p:cNvSpPr/>
          <p:nvPr/>
        </p:nvSpPr>
        <p:spPr>
          <a:xfrm>
            <a:off x="6438900" y="2057400"/>
            <a:ext cx="4879213"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Rubik" pitchFamily="34" charset="0"/>
                <a:ea typeface="Rubik" pitchFamily="34" charset="-122"/>
                <a:cs typeface="Rubik" pitchFamily="34" charset="-120"/>
              </a:rPr>
              <a:t>Four privacy tiers vs three</a:t>
            </a:r>
            <a:endParaRPr lang="en-US" sz="1600" dirty="0"/>
          </a:p>
        </p:txBody>
      </p:sp>
      <p:sp>
        <p:nvSpPr>
          <p:cNvPr id="11" name="Text 9"/>
          <p:cNvSpPr/>
          <p:nvPr/>
        </p:nvSpPr>
        <p:spPr>
          <a:xfrm>
            <a:off x="6438900" y="2377442"/>
            <a:ext cx="4879213"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4A5E"/>
                </a:solidFill>
                <a:latin typeface="IBM Plex Sans" pitchFamily="34" charset="0"/>
                <a:ea typeface="IBM Plex Sans" pitchFamily="34" charset="-122"/>
                <a:cs typeface="IBM Plex Sans" pitchFamily="34" charset="-120"/>
              </a:rPr>
              <a:t>Map the Privacy Standard's tiers, incl. Restricted with Privacy Office approval.</a:t>
            </a:r>
            <a:endParaRPr lang="en-US" sz="1300" dirty="0"/>
          </a:p>
        </p:txBody>
      </p:sp>
      <p:sp>
        <p:nvSpPr>
          <p:cNvPr id="12" name="Shape 10"/>
          <p:cNvSpPr/>
          <p:nvPr/>
        </p:nvSpPr>
        <p:spPr>
          <a:xfrm>
            <a:off x="812800" y="3220721"/>
            <a:ext cx="5194300" cy="957580"/>
          </a:xfrm>
          <a:prstGeom prst="roundRect">
            <a:avLst>
              <a:gd name="adj" fmla="val 9284"/>
            </a:avLst>
          </a:prstGeom>
          <a:solidFill>
            <a:srgbClr val="FFFFFF"/>
          </a:solidFill>
          <a:ln/>
        </p:spPr>
      </p:sp>
      <p:sp>
        <p:nvSpPr>
          <p:cNvPr id="13" name="Shape 11"/>
          <p:cNvSpPr/>
          <p:nvPr/>
        </p:nvSpPr>
        <p:spPr>
          <a:xfrm>
            <a:off x="812800" y="3220721"/>
            <a:ext cx="5194300" cy="957580"/>
          </a:xfrm>
          <a:custGeom>
            <a:avLst/>
            <a:gdLst/>
            <a:ahLst/>
            <a:cxnLst/>
            <a:rect l="l" t="t" r="r" b="b"/>
            <a:pathLst>
              <a:path w="5194300" h="957580">
                <a:moveTo>
                  <a:pt x="88900" y="957580"/>
                </a:moveTo>
                <a:lnTo>
                  <a:pt x="88900" y="957580"/>
                </a:lnTo>
                <a:arcTo hR="88900" wR="88900" stAng="5400000" swAng="5400000"/>
                <a:lnTo>
                  <a:pt x="0" y="88900"/>
                </a:lnTo>
                <a:arcTo hR="88900" wR="88900" stAng="10800000" swAng="5400000"/>
                <a:lnTo>
                  <a:pt x="88900" y="0"/>
                </a:lnTo>
                <a:arcTo hR="88900" wR="38100" stAng="16200000" swAng="-5400000"/>
                <a:lnTo>
                  <a:pt x="50800" y="868680"/>
                </a:lnTo>
                <a:arcTo hR="88900" wR="38100" stAng="10800000" swAng="-5400000"/>
                <a:close/>
              </a:path>
            </a:pathLst>
          </a:custGeom>
          <a:solidFill>
            <a:srgbClr val="E8913A"/>
          </a:solidFill>
          <a:ln/>
        </p:spPr>
      </p:sp>
      <p:sp>
        <p:nvSpPr>
          <p:cNvPr id="14" name="Text 12"/>
          <p:cNvSpPr/>
          <p:nvPr/>
        </p:nvSpPr>
        <p:spPr>
          <a:xfrm>
            <a:off x="1066800" y="3423921"/>
            <a:ext cx="4879213"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Rubik" pitchFamily="34" charset="0"/>
                <a:ea typeface="Rubik" pitchFamily="34" charset="-122"/>
                <a:cs typeface="Rubik" pitchFamily="34" charset="-120"/>
              </a:rPr>
              <a:t>Privacy review in approvals</a:t>
            </a:r>
            <a:endParaRPr lang="en-US" sz="1600" dirty="0"/>
          </a:p>
        </p:txBody>
      </p:sp>
      <p:sp>
        <p:nvSpPr>
          <p:cNvPr id="15" name="Text 13"/>
          <p:cNvSpPr/>
          <p:nvPr/>
        </p:nvSpPr>
        <p:spPr>
          <a:xfrm>
            <a:off x="1066800" y="3743964"/>
            <a:ext cx="4879213"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4A5E"/>
                </a:solidFill>
                <a:latin typeface="IBM Plex Sans" pitchFamily="34" charset="0"/>
                <a:ea typeface="IBM Plex Sans" pitchFamily="34" charset="-122"/>
                <a:cs typeface="IBM Plex Sans" pitchFamily="34" charset="-120"/>
              </a:rPr>
              <a:t>Sharing a sensitive preference needs no extra sign-off today.</a:t>
            </a:r>
            <a:endParaRPr lang="en-US" sz="1300" dirty="0"/>
          </a:p>
        </p:txBody>
      </p:sp>
      <p:sp>
        <p:nvSpPr>
          <p:cNvPr id="16" name="Shape 14"/>
          <p:cNvSpPr/>
          <p:nvPr/>
        </p:nvSpPr>
        <p:spPr>
          <a:xfrm>
            <a:off x="6184900" y="3220721"/>
            <a:ext cx="5194300" cy="957580"/>
          </a:xfrm>
          <a:prstGeom prst="roundRect">
            <a:avLst>
              <a:gd name="adj" fmla="val 9284"/>
            </a:avLst>
          </a:prstGeom>
          <a:solidFill>
            <a:srgbClr val="FFFFFF"/>
          </a:solidFill>
          <a:ln/>
        </p:spPr>
      </p:sp>
      <p:sp>
        <p:nvSpPr>
          <p:cNvPr id="17" name="Shape 15"/>
          <p:cNvSpPr/>
          <p:nvPr/>
        </p:nvSpPr>
        <p:spPr>
          <a:xfrm>
            <a:off x="6184900" y="3220721"/>
            <a:ext cx="5194300" cy="957580"/>
          </a:xfrm>
          <a:custGeom>
            <a:avLst/>
            <a:gdLst/>
            <a:ahLst/>
            <a:cxnLst/>
            <a:rect l="l" t="t" r="r" b="b"/>
            <a:pathLst>
              <a:path w="5194300" h="957580">
                <a:moveTo>
                  <a:pt x="88900" y="957580"/>
                </a:moveTo>
                <a:lnTo>
                  <a:pt x="88900" y="957580"/>
                </a:lnTo>
                <a:arcTo hR="88900" wR="88900" stAng="5400000" swAng="5400000"/>
                <a:lnTo>
                  <a:pt x="0" y="88900"/>
                </a:lnTo>
                <a:arcTo hR="88900" wR="88900" stAng="10800000" swAng="5400000"/>
                <a:lnTo>
                  <a:pt x="88900" y="0"/>
                </a:lnTo>
                <a:arcTo hR="88900" wR="38100" stAng="16200000" swAng="-5400000"/>
                <a:lnTo>
                  <a:pt x="50800" y="868680"/>
                </a:lnTo>
                <a:arcTo hR="88900" wR="38100" stAng="10800000" swAng="-5400000"/>
                <a:close/>
              </a:path>
            </a:pathLst>
          </a:custGeom>
          <a:solidFill>
            <a:srgbClr val="E8913A"/>
          </a:solidFill>
          <a:ln/>
        </p:spPr>
      </p:sp>
      <p:sp>
        <p:nvSpPr>
          <p:cNvPr id="18" name="Text 16"/>
          <p:cNvSpPr/>
          <p:nvPr/>
        </p:nvSpPr>
        <p:spPr>
          <a:xfrm>
            <a:off x="6438900" y="3423921"/>
            <a:ext cx="4879213"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Rubik" pitchFamily="34" charset="0"/>
                <a:ea typeface="Rubik" pitchFamily="34" charset="-122"/>
                <a:cs typeface="Rubik" pitchFamily="34" charset="-120"/>
              </a:rPr>
              <a:t>Shared customer profile</a:t>
            </a:r>
            <a:endParaRPr lang="en-US" sz="1600" dirty="0"/>
          </a:p>
        </p:txBody>
      </p:sp>
      <p:sp>
        <p:nvSpPr>
          <p:cNvPr id="19" name="Text 17"/>
          <p:cNvSpPr/>
          <p:nvPr/>
        </p:nvSpPr>
        <p:spPr>
          <a:xfrm>
            <a:off x="6438900" y="3743964"/>
            <a:ext cx="4879213"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4A5E"/>
                </a:solidFill>
                <a:latin typeface="IBM Plex Sans" pitchFamily="34" charset="0"/>
                <a:ea typeface="IBM Plex Sans" pitchFamily="34" charset="-122"/>
                <a:cs typeface="IBM Plex Sans" pitchFamily="34" charset="-120"/>
              </a:rPr>
              <a:t>Should cross-app facts move out of KSA into one owned profile?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Governed Memory: Three Agent Models</dc:title>
  <dc:subject>PptxGenJS Presentation</dc:subject>
  <dc:creator>PptxGenJS</dc:creator>
  <cp:lastModifiedBy>PptxGenJS</cp:lastModifiedBy>
  <cp:revision>1</cp:revision>
  <dcterms:created xsi:type="dcterms:W3CDTF">2026-09-29T12:59:45Z</dcterms:created>
  <dcterms:modified xsi:type="dcterms:W3CDTF">2026-09-29T12:59:45Z</dcterms:modified>
</cp:coreProperties>
</file>