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like KSA need to remember customer preferences across conversations, and several agents need some of the same facts. We first designed a custom solution. When Google made Memory Bank generally available, we evaluated it against that design. Three questions drive the evaluation: where extraction happens, where memory is stored, and how sharing is governed.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was our original design: batch processing after each conversation. It gives central control but means building and running a pipeline, and it can't ask the customer to confirm sensitive data like allergies. Option B lets Memory Bank's own model extract memories; it's easy, but we lose control over what gets stored before our privacy rules apply, so we keep it switched off. Option C is what's built: the agent saves during the conversation and our control plane checks every write. Batch can still be added later for inferred, non-sensitive preferences.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storage choice is mostly about what we would otherwise build. Memory Bank gives us version history, per-customer scoping, retrieval, scaling and durability without running a database. PostgreSQL would give us full SQL and point-in-time restore, but we'd build and operate everything else. The trade-offs to watch are the quota, API latency and backups we don't control; the load test will confirm the quota we need. We keep governance data in PostgreSQL, where it already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Bank stores data but doesn't decide who may see it. Our control plane sits between every agent and Memory Bank. Each team owns its preferences; other agents request specific preferences, to read or also to write, and the owner approves each one. On every call the platform applies sensitivity, consent, purpose and retention rules, and logs the decision. Schema changes only add preferences, so existing approvals keep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agents extract during the conversation and the control plane checks every write; Memory Bank stores the values and gives us versioning, scoping and scale out of the box; and the control plane owns governance. Next we provision non-production, load test at the real quota, build the MCP server, finalise production authentication, and agree privacy tiers and retention with the Privacy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0"/>
            <a:ext cx="10566400" cy="83820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Rubik" pitchFamily="34" charset="0"/>
                <a:ea typeface="Rubik" pitchFamily="34" charset="-122"/>
                <a:cs typeface="Rubi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2270760"/>
            <a:ext cx="10566400" cy="377444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200" kern="0" dirty="0">
                <a:solidFill>
                  <a:srgbClr val="8FB4F5"/>
                </a:solidFill>
                <a:latin typeface="Rubik" pitchFamily="34" charset="0"/>
                <a:ea typeface="Rubik" pitchFamily="34" charset="-122"/>
                <a:cs typeface="Rubik" pitchFamily="34" charset="-120"/>
              </a:rPr>
              <a:t>SHARED MEMORY FOR AGENTIC COMMERCE</a:t>
            </a:r>
            <a:endParaRPr lang="en-US" sz="1500" dirty="0"/>
          </a:p>
        </p:txBody>
      </p:sp>
      <p:sp>
        <p:nvSpPr>
          <p:cNvPr id="3" name="Text 1"/>
          <p:cNvSpPr/>
          <p:nvPr>
            <p:ph type="title"/>
          </p:nvPr>
        </p:nvSpPr>
        <p:spPr>
          <a:xfrm>
            <a:off x="812800" y="1807210"/>
            <a:ext cx="10883392" cy="141224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7F6F2"/>
                </a:solidFill>
                <a:latin typeface="Rubik" pitchFamily="34" charset="0"/>
                <a:ea typeface="Rubik" pitchFamily="34" charset="-122"/>
                <a:cs typeface="Rubik" pitchFamily="34" charset="-120"/>
              </a:rPr>
              <a:t>Evaluating Vertex AI Memory Bank</a:t>
            </a:r>
            <a:endParaRPr lang="en-US" sz="5200" dirty="0"/>
          </a:p>
        </p:txBody>
      </p:sp>
      <p:sp>
        <p:nvSpPr>
          <p:cNvPr id="4" name="Text 2"/>
          <p:cNvSpPr/>
          <p:nvPr/>
        </p:nvSpPr>
        <p:spPr>
          <a:xfrm>
            <a:off x="812800" y="3397250"/>
            <a:ext cx="91567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9D3E6"/>
                </a:solidFill>
                <a:latin typeface="IBM Plex Sans" pitchFamily="34" charset="0"/>
                <a:ea typeface="IBM Plex Sans" pitchFamily="34" charset="-122"/>
                <a:cs typeface="IBM Plex Sans" pitchFamily="34" charset="-120"/>
              </a:rPr>
              <a:t>We started with a custom design. Memory Bank is now generally available, so we are testing it on three criteria.</a:t>
            </a:r>
            <a:endParaRPr lang="en-US" sz="2000" dirty="0"/>
          </a:p>
        </p:txBody>
      </p:sp>
      <p:sp>
        <p:nvSpPr>
          <p:cNvPr id="5" name="Shape 3"/>
          <p:cNvSpPr/>
          <p:nvPr/>
        </p:nvSpPr>
        <p:spPr>
          <a:xfrm>
            <a:off x="812800" y="4810760"/>
            <a:ext cx="3403600" cy="1234440"/>
          </a:xfrm>
          <a:prstGeom prst="roundRect">
            <a:avLst>
              <a:gd name="adj" fmla="val 8230"/>
            </a:avLst>
          </a:prstGeom>
          <a:solidFill>
            <a:srgbClr val="1F2F52"/>
          </a:solidFill>
          <a:ln/>
        </p:spPr>
      </p:sp>
      <p:sp>
        <p:nvSpPr>
          <p:cNvPr id="6" name="Shape 4"/>
          <p:cNvSpPr/>
          <p:nvPr/>
        </p:nvSpPr>
        <p:spPr>
          <a:xfrm>
            <a:off x="812800" y="4810760"/>
            <a:ext cx="3403600" cy="1234440"/>
          </a:xfrm>
          <a:custGeom>
            <a:avLst/>
            <a:gdLst/>
            <a:ahLst/>
            <a:cxnLst/>
            <a:rect l="l" t="t" r="r" b="b"/>
            <a:pathLst>
              <a:path w="3403600" h="1234440">
                <a:moveTo>
                  <a:pt x="0" y="101600"/>
                </a:moveTo>
                <a:lnTo>
                  <a:pt x="0" y="101600"/>
                </a:lnTo>
                <a:arcTo hR="101600" wR="101600" stAng="10800000" swAng="5400000"/>
                <a:lnTo>
                  <a:pt x="3302000" y="0"/>
                </a:lnTo>
                <a:arcTo hR="101600" wR="101600" stAng="16200000" swAng="5400000"/>
                <a:lnTo>
                  <a:pt x="3403600" y="101600"/>
                </a:lnTo>
                <a:arcTo hR="63500" wR="101600" stAng="0" swAng="-5400000"/>
                <a:lnTo>
                  <a:pt x="101600" y="38100"/>
                </a:lnTo>
                <a:arcTo hR="63500" wR="101600" stAng="16200000" swAng="-5400000"/>
                <a:close/>
              </a:path>
            </a:pathLst>
          </a:custGeom>
          <a:solidFill>
            <a:srgbClr val="2F6FDE"/>
          </a:solidFill>
          <a:ln/>
        </p:spPr>
      </p:sp>
      <p:sp>
        <p:nvSpPr>
          <p:cNvPr id="7" name="Text 5"/>
          <p:cNvSpPr/>
          <p:nvPr/>
        </p:nvSpPr>
        <p:spPr>
          <a:xfrm>
            <a:off x="1016000" y="5049520"/>
            <a:ext cx="308711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FB4F5"/>
                </a:solidFill>
                <a:latin typeface="Rubik" pitchFamily="34" charset="0"/>
                <a:ea typeface="Rubik" pitchFamily="34" charset="-122"/>
                <a:cs typeface="Rubik" pitchFamily="34" charset="-120"/>
              </a:rPr>
              <a:t>1 · Extraction</a:t>
            </a:r>
            <a:endParaRPr lang="en-US" sz="1400" dirty="0"/>
          </a:p>
        </p:txBody>
      </p:sp>
      <p:sp>
        <p:nvSpPr>
          <p:cNvPr id="8" name="Text 6"/>
          <p:cNvSpPr/>
          <p:nvPr/>
        </p:nvSpPr>
        <p:spPr>
          <a:xfrm>
            <a:off x="1016000" y="5361940"/>
            <a:ext cx="3087116"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6F2"/>
                </a:solidFill>
                <a:latin typeface="IBM Plex Sans" pitchFamily="34" charset="0"/>
                <a:ea typeface="IBM Plex Sans" pitchFamily="34" charset="-122"/>
                <a:cs typeface="IBM Plex Sans" pitchFamily="34" charset="-120"/>
              </a:rPr>
              <a:t>Where should memories be pulled out of the conversation?</a:t>
            </a:r>
            <a:endParaRPr lang="en-US" sz="1400" dirty="0"/>
          </a:p>
        </p:txBody>
      </p:sp>
      <p:sp>
        <p:nvSpPr>
          <p:cNvPr id="9" name="Shape 7"/>
          <p:cNvSpPr/>
          <p:nvPr/>
        </p:nvSpPr>
        <p:spPr>
          <a:xfrm>
            <a:off x="4394200" y="4810760"/>
            <a:ext cx="3403600" cy="1234440"/>
          </a:xfrm>
          <a:prstGeom prst="roundRect">
            <a:avLst>
              <a:gd name="adj" fmla="val 8230"/>
            </a:avLst>
          </a:prstGeom>
          <a:solidFill>
            <a:srgbClr val="1F2F52"/>
          </a:solidFill>
          <a:ln/>
        </p:spPr>
      </p:sp>
      <p:sp>
        <p:nvSpPr>
          <p:cNvPr id="10" name="Shape 8"/>
          <p:cNvSpPr/>
          <p:nvPr/>
        </p:nvSpPr>
        <p:spPr>
          <a:xfrm>
            <a:off x="4394200" y="4810760"/>
            <a:ext cx="3403600" cy="1234440"/>
          </a:xfrm>
          <a:custGeom>
            <a:avLst/>
            <a:gdLst/>
            <a:ahLst/>
            <a:cxnLst/>
            <a:rect l="l" t="t" r="r" b="b"/>
            <a:pathLst>
              <a:path w="3403600" h="1234440">
                <a:moveTo>
                  <a:pt x="0" y="101600"/>
                </a:moveTo>
                <a:lnTo>
                  <a:pt x="0" y="101600"/>
                </a:lnTo>
                <a:arcTo hR="101600" wR="101600" stAng="10800000" swAng="5400000"/>
                <a:lnTo>
                  <a:pt x="3302000" y="0"/>
                </a:lnTo>
                <a:arcTo hR="101600" wR="101600" stAng="16200000" swAng="5400000"/>
                <a:lnTo>
                  <a:pt x="3403600" y="101600"/>
                </a:lnTo>
                <a:arcTo hR="63500" wR="101600" stAng="0" swAng="-5400000"/>
                <a:lnTo>
                  <a:pt x="101600" y="38100"/>
                </a:lnTo>
                <a:arcTo hR="63500" wR="101600" stAng="16200000" swAng="-5400000"/>
                <a:close/>
              </a:path>
            </a:pathLst>
          </a:custGeom>
          <a:solidFill>
            <a:srgbClr val="2F6FDE"/>
          </a:solidFill>
          <a:ln/>
        </p:spPr>
      </p:sp>
      <p:sp>
        <p:nvSpPr>
          <p:cNvPr id="11" name="Text 9"/>
          <p:cNvSpPr/>
          <p:nvPr/>
        </p:nvSpPr>
        <p:spPr>
          <a:xfrm>
            <a:off x="4597400" y="5049520"/>
            <a:ext cx="308711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FB4F5"/>
                </a:solidFill>
                <a:latin typeface="Rubik" pitchFamily="34" charset="0"/>
                <a:ea typeface="Rubik" pitchFamily="34" charset="-122"/>
                <a:cs typeface="Rubik" pitchFamily="34" charset="-120"/>
              </a:rPr>
              <a:t>2 · Storage</a:t>
            </a:r>
            <a:endParaRPr lang="en-US" sz="1400" dirty="0"/>
          </a:p>
        </p:txBody>
      </p:sp>
      <p:sp>
        <p:nvSpPr>
          <p:cNvPr id="12" name="Text 10"/>
          <p:cNvSpPr/>
          <p:nvPr/>
        </p:nvSpPr>
        <p:spPr>
          <a:xfrm>
            <a:off x="4597400" y="5361940"/>
            <a:ext cx="308711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6F2"/>
                </a:solidFill>
                <a:latin typeface="IBM Plex Sans" pitchFamily="34" charset="0"/>
                <a:ea typeface="IBM Plex Sans" pitchFamily="34" charset="-122"/>
                <a:cs typeface="IBM Plex Sans" pitchFamily="34" charset="-120"/>
              </a:rPr>
              <a:t>PostgreSQL, or Memory Bank?</a:t>
            </a:r>
            <a:endParaRPr lang="en-US" sz="1400" dirty="0"/>
          </a:p>
        </p:txBody>
      </p:sp>
      <p:sp>
        <p:nvSpPr>
          <p:cNvPr id="13" name="Shape 11"/>
          <p:cNvSpPr/>
          <p:nvPr/>
        </p:nvSpPr>
        <p:spPr>
          <a:xfrm>
            <a:off x="7975600" y="4810760"/>
            <a:ext cx="3403600" cy="1234440"/>
          </a:xfrm>
          <a:prstGeom prst="roundRect">
            <a:avLst>
              <a:gd name="adj" fmla="val 8230"/>
            </a:avLst>
          </a:prstGeom>
          <a:solidFill>
            <a:srgbClr val="1F2F52"/>
          </a:solidFill>
          <a:ln/>
        </p:spPr>
      </p:sp>
      <p:sp>
        <p:nvSpPr>
          <p:cNvPr id="14" name="Shape 12"/>
          <p:cNvSpPr/>
          <p:nvPr/>
        </p:nvSpPr>
        <p:spPr>
          <a:xfrm>
            <a:off x="7975600" y="4810760"/>
            <a:ext cx="3403600" cy="1234440"/>
          </a:xfrm>
          <a:custGeom>
            <a:avLst/>
            <a:gdLst/>
            <a:ahLst/>
            <a:cxnLst/>
            <a:rect l="l" t="t" r="r" b="b"/>
            <a:pathLst>
              <a:path w="3403600" h="1234440">
                <a:moveTo>
                  <a:pt x="0" y="101600"/>
                </a:moveTo>
                <a:lnTo>
                  <a:pt x="0" y="101600"/>
                </a:lnTo>
                <a:arcTo hR="101600" wR="101600" stAng="10800000" swAng="5400000"/>
                <a:lnTo>
                  <a:pt x="3302000" y="0"/>
                </a:lnTo>
                <a:arcTo hR="101600" wR="101600" stAng="16200000" swAng="5400000"/>
                <a:lnTo>
                  <a:pt x="3403600" y="101600"/>
                </a:lnTo>
                <a:arcTo hR="63500" wR="101600" stAng="0" swAng="-5400000"/>
                <a:lnTo>
                  <a:pt x="101600" y="38100"/>
                </a:lnTo>
                <a:arcTo hR="63500" wR="101600" stAng="16200000" swAng="-5400000"/>
                <a:close/>
              </a:path>
            </a:pathLst>
          </a:custGeom>
          <a:solidFill>
            <a:srgbClr val="2F6FDE"/>
          </a:solidFill>
          <a:ln/>
        </p:spPr>
      </p:sp>
      <p:sp>
        <p:nvSpPr>
          <p:cNvPr id="15" name="Text 13"/>
          <p:cNvSpPr/>
          <p:nvPr/>
        </p:nvSpPr>
        <p:spPr>
          <a:xfrm>
            <a:off x="8178800" y="5049520"/>
            <a:ext cx="308711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FB4F5"/>
                </a:solidFill>
                <a:latin typeface="Rubik" pitchFamily="34" charset="0"/>
                <a:ea typeface="Rubik" pitchFamily="34" charset="-122"/>
                <a:cs typeface="Rubik" pitchFamily="34" charset="-120"/>
              </a:rPr>
              <a:t>3 · Governance</a:t>
            </a:r>
            <a:endParaRPr lang="en-US" sz="1400" dirty="0"/>
          </a:p>
        </p:txBody>
      </p:sp>
      <p:sp>
        <p:nvSpPr>
          <p:cNvPr id="16" name="Text 14"/>
          <p:cNvSpPr/>
          <p:nvPr/>
        </p:nvSpPr>
        <p:spPr>
          <a:xfrm>
            <a:off x="8178800" y="5361940"/>
            <a:ext cx="320040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7F6F2"/>
                </a:solidFill>
                <a:latin typeface="IBM Plex Sans" pitchFamily="34" charset="0"/>
                <a:ea typeface="IBM Plex Sans" pitchFamily="34" charset="-122"/>
                <a:cs typeface="IBM Plex Sans" pitchFamily="34" charset="-120"/>
              </a:rPr>
              <a:t>How do agents share memory safely?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E"/>
                </a:solidFill>
                <a:latin typeface="Rubik" pitchFamily="34" charset="0"/>
                <a:ea typeface="Rubik" pitchFamily="34" charset="-122"/>
                <a:cs typeface="Rubik" pitchFamily="34" charset="-120"/>
              </a:rPr>
              <a:t>1 · EXTRACTION</a:t>
            </a:r>
            <a:endParaRPr lang="en-US" sz="1200" dirty="0"/>
          </a:p>
        </p:txBody>
      </p:sp>
      <p:sp>
        <p:nvSpPr>
          <p:cNvPr id="3" name="Text 1"/>
          <p:cNvSpPr/>
          <p:nvPr>
            <p:ph type="title"/>
          </p:nvPr>
        </p:nvSpPr>
        <p:spPr>
          <a:xfrm>
            <a:off x="812800" y="1127760"/>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Rubik" pitchFamily="34" charset="0"/>
                <a:ea typeface="Rubik" pitchFamily="34" charset="-122"/>
                <a:cs typeface="Rubik" pitchFamily="34" charset="-120"/>
              </a:rPr>
              <a:t>Where should memories be pulled out of the conversation?</a:t>
            </a:r>
            <a:endParaRPr lang="en-US" sz="3000" dirty="0"/>
          </a:p>
        </p:txBody>
      </p:sp>
      <p:sp>
        <p:nvSpPr>
          <p:cNvPr id="4" name="Shape 2"/>
          <p:cNvSpPr/>
          <p:nvPr/>
        </p:nvSpPr>
        <p:spPr>
          <a:xfrm>
            <a:off x="815975" y="2248535"/>
            <a:ext cx="3397250" cy="2693670"/>
          </a:xfrm>
          <a:prstGeom prst="roundRect">
            <a:avLst>
              <a:gd name="adj" fmla="val 4597"/>
            </a:avLst>
          </a:prstGeom>
          <a:solidFill>
            <a:srgbClr val="FFFFFF"/>
          </a:solidFill>
          <a:ln w="6350">
            <a:solidFill>
              <a:srgbClr val="DDE2EA"/>
            </a:solidFill>
            <a:prstDash val="solid"/>
          </a:ln>
        </p:spPr>
      </p:sp>
      <p:sp>
        <p:nvSpPr>
          <p:cNvPr id="5" name="Text 3"/>
          <p:cNvSpPr/>
          <p:nvPr/>
        </p:nvSpPr>
        <p:spPr>
          <a:xfrm>
            <a:off x="1046480" y="2479040"/>
            <a:ext cx="302432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Rubik" pitchFamily="34" charset="0"/>
                <a:ea typeface="Rubik" pitchFamily="34" charset="-122"/>
                <a:cs typeface="Rubik" pitchFamily="34" charset="-120"/>
              </a:rPr>
              <a:t>A · Custom batch pipeline</a:t>
            </a:r>
            <a:endParaRPr lang="en-US" sz="1700" dirty="0"/>
          </a:p>
        </p:txBody>
      </p:sp>
      <p:sp>
        <p:nvSpPr>
          <p:cNvPr id="6" name="Text 4"/>
          <p:cNvSpPr/>
          <p:nvPr/>
        </p:nvSpPr>
        <p:spPr>
          <a:xfrm>
            <a:off x="1046480" y="2839720"/>
            <a:ext cx="302432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E"/>
                </a:solidFill>
                <a:latin typeface="IBM Plex Sans" pitchFamily="34" charset="0"/>
                <a:ea typeface="IBM Plex Sans" pitchFamily="34" charset="-122"/>
                <a:cs typeface="IBM Plex Sans" pitchFamily="34" charset="-120"/>
              </a:rPr>
              <a:t>After the session, a pipeline reads the chat and decides what to save.</a:t>
            </a:r>
            <a:endParaRPr lang="en-US" sz="1300" dirty="0"/>
          </a:p>
        </p:txBody>
      </p:sp>
      <p:sp>
        <p:nvSpPr>
          <p:cNvPr id="7" name="Text 5"/>
          <p:cNvSpPr/>
          <p:nvPr/>
        </p:nvSpPr>
        <p:spPr>
          <a:xfrm>
            <a:off x="1046480" y="3403600"/>
            <a:ext cx="302432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t>
            </a:r>
            <a:r>
              <a:rPr lang="en-US" sz="1300" dirty="0">
                <a:solidFill>
                  <a:srgbClr val="14213D"/>
                </a:solidFill>
                <a:latin typeface="IBM Plex Sans" pitchFamily="34" charset="0"/>
                <a:ea typeface="IBM Plex Sans" pitchFamily="34" charset="-122"/>
                <a:cs typeface="IBM Plex Sans" pitchFamily="34" charset="-120"/>
              </a:rPr>
              <a:t> Central control of quality</a:t>
            </a:r>
            <a:endParaRPr lang="en-US" sz="1300" dirty="0"/>
          </a:p>
        </p:txBody>
      </p:sp>
      <p:sp>
        <p:nvSpPr>
          <p:cNvPr id="8" name="Text 6"/>
          <p:cNvSpPr/>
          <p:nvPr/>
        </p:nvSpPr>
        <p:spPr>
          <a:xfrm>
            <a:off x="1046480" y="3736340"/>
            <a:ext cx="302432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t>
            </a:r>
            <a:r>
              <a:rPr lang="en-US" sz="1300" dirty="0">
                <a:solidFill>
                  <a:srgbClr val="14213D"/>
                </a:solidFill>
                <a:latin typeface="IBM Plex Sans" pitchFamily="34" charset="0"/>
                <a:ea typeface="IBM Plex Sans" pitchFamily="34" charset="-122"/>
                <a:cs typeface="IBM Plex Sans" pitchFamily="34" charset="-120"/>
              </a:rPr>
              <a:t> Many parts to build and run</a:t>
            </a:r>
            <a:endParaRPr lang="en-US" sz="1300" dirty="0"/>
          </a:p>
        </p:txBody>
      </p:sp>
      <p:sp>
        <p:nvSpPr>
          <p:cNvPr id="9" name="Text 7"/>
          <p:cNvSpPr/>
          <p:nvPr/>
        </p:nvSpPr>
        <p:spPr>
          <a:xfrm>
            <a:off x="1046480" y="4069080"/>
            <a:ext cx="302432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t>
            </a:r>
            <a:r>
              <a:rPr lang="en-US" sz="1300" dirty="0">
                <a:solidFill>
                  <a:srgbClr val="14213D"/>
                </a:solidFill>
                <a:latin typeface="IBM Plex Sans" pitchFamily="34" charset="0"/>
                <a:ea typeface="IBM Plex Sans" pitchFamily="34" charset="-122"/>
                <a:cs typeface="IBM Plex Sans" pitchFamily="34" charset="-120"/>
              </a:rPr>
              <a:t> Can't ask the customer to confirm</a:t>
            </a:r>
            <a:endParaRPr lang="en-US" sz="1300" dirty="0"/>
          </a:p>
        </p:txBody>
      </p:sp>
      <p:sp>
        <p:nvSpPr>
          <p:cNvPr id="10" name="Shape 8"/>
          <p:cNvSpPr/>
          <p:nvPr/>
        </p:nvSpPr>
        <p:spPr>
          <a:xfrm>
            <a:off x="4397375" y="2248535"/>
            <a:ext cx="3397250" cy="2693670"/>
          </a:xfrm>
          <a:prstGeom prst="roundRect">
            <a:avLst>
              <a:gd name="adj" fmla="val 4597"/>
            </a:avLst>
          </a:prstGeom>
          <a:solidFill>
            <a:srgbClr val="FFFFFF"/>
          </a:solidFill>
          <a:ln w="6350">
            <a:solidFill>
              <a:srgbClr val="DDE2EA"/>
            </a:solidFill>
            <a:prstDash val="solid"/>
          </a:ln>
        </p:spPr>
      </p:sp>
      <p:sp>
        <p:nvSpPr>
          <p:cNvPr id="11" name="Text 9"/>
          <p:cNvSpPr/>
          <p:nvPr/>
        </p:nvSpPr>
        <p:spPr>
          <a:xfrm>
            <a:off x="4627880" y="2479040"/>
            <a:ext cx="316357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Rubik" pitchFamily="34" charset="0"/>
                <a:ea typeface="Rubik" pitchFamily="34" charset="-122"/>
                <a:cs typeface="Rubik" pitchFamily="34" charset="-120"/>
              </a:rPr>
              <a:t>B · Memory Bank extraction</a:t>
            </a:r>
            <a:endParaRPr lang="en-US" sz="1700" dirty="0"/>
          </a:p>
        </p:txBody>
      </p:sp>
      <p:sp>
        <p:nvSpPr>
          <p:cNvPr id="12" name="Text 10"/>
          <p:cNvSpPr/>
          <p:nvPr/>
        </p:nvSpPr>
        <p:spPr>
          <a:xfrm>
            <a:off x="4627880" y="2839720"/>
            <a:ext cx="302432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E"/>
                </a:solidFill>
                <a:latin typeface="IBM Plex Sans" pitchFamily="34" charset="0"/>
                <a:ea typeface="IBM Plex Sans" pitchFamily="34" charset="-122"/>
                <a:cs typeface="IBM Plex Sans" pitchFamily="34" charset="-120"/>
              </a:rPr>
              <a:t>Memory Bank's own model extracts and merges memories.</a:t>
            </a:r>
            <a:endParaRPr lang="en-US" sz="1300" dirty="0"/>
          </a:p>
        </p:txBody>
      </p:sp>
      <p:sp>
        <p:nvSpPr>
          <p:cNvPr id="13" name="Text 11"/>
          <p:cNvSpPr/>
          <p:nvPr/>
        </p:nvSpPr>
        <p:spPr>
          <a:xfrm>
            <a:off x="4627880" y="3403600"/>
            <a:ext cx="302432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t>
            </a:r>
            <a:r>
              <a:rPr lang="en-US" sz="1300" dirty="0">
                <a:solidFill>
                  <a:srgbClr val="14213D"/>
                </a:solidFill>
                <a:latin typeface="IBM Plex Sans" pitchFamily="34" charset="0"/>
                <a:ea typeface="IBM Plex Sans" pitchFamily="34" charset="-122"/>
                <a:cs typeface="IBM Plex Sans" pitchFamily="34" charset="-120"/>
              </a:rPr>
              <a:t> No extraction code to write</a:t>
            </a:r>
            <a:endParaRPr lang="en-US" sz="1300" dirty="0"/>
          </a:p>
        </p:txBody>
      </p:sp>
      <p:sp>
        <p:nvSpPr>
          <p:cNvPr id="14" name="Text 12"/>
          <p:cNvSpPr/>
          <p:nvPr/>
        </p:nvSpPr>
        <p:spPr>
          <a:xfrm>
            <a:off x="4627880" y="3736340"/>
            <a:ext cx="302432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t>
            </a:r>
            <a:r>
              <a:rPr lang="en-US" sz="1300" dirty="0">
                <a:solidFill>
                  <a:srgbClr val="14213D"/>
                </a:solidFill>
                <a:latin typeface="IBM Plex Sans" pitchFamily="34" charset="0"/>
                <a:ea typeface="IBM Plex Sans" pitchFamily="34" charset="-122"/>
                <a:cs typeface="IBM Plex Sans" pitchFamily="34" charset="-120"/>
              </a:rPr>
              <a:t> Less control over what is saved</a:t>
            </a:r>
            <a:endParaRPr lang="en-US" sz="1300" dirty="0"/>
          </a:p>
        </p:txBody>
      </p:sp>
      <p:sp>
        <p:nvSpPr>
          <p:cNvPr id="15" name="Text 13"/>
          <p:cNvSpPr/>
          <p:nvPr/>
        </p:nvSpPr>
        <p:spPr>
          <a:xfrm>
            <a:off x="4627880" y="4069080"/>
            <a:ext cx="302432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t>
            </a:r>
            <a:r>
              <a:rPr lang="en-US" sz="1300" dirty="0">
                <a:solidFill>
                  <a:srgbClr val="14213D"/>
                </a:solidFill>
                <a:latin typeface="IBM Plex Sans" pitchFamily="34" charset="0"/>
                <a:ea typeface="IBM Plex Sans" pitchFamily="34" charset="-122"/>
                <a:cs typeface="IBM Plex Sans" pitchFamily="34" charset="-120"/>
              </a:rPr>
              <a:t> Privacy rules hard to apply first</a:t>
            </a:r>
            <a:endParaRPr lang="en-US" sz="1300" dirty="0"/>
          </a:p>
        </p:txBody>
      </p:sp>
      <p:sp>
        <p:nvSpPr>
          <p:cNvPr id="16" name="Shape 14"/>
          <p:cNvSpPr/>
          <p:nvPr/>
        </p:nvSpPr>
        <p:spPr>
          <a:xfrm>
            <a:off x="7985125" y="2254885"/>
            <a:ext cx="3384550" cy="2680970"/>
          </a:xfrm>
          <a:prstGeom prst="roundRect">
            <a:avLst>
              <a:gd name="adj" fmla="val 4382"/>
            </a:avLst>
          </a:prstGeom>
          <a:solidFill>
            <a:srgbClr val="FFFFFF"/>
          </a:solidFill>
          <a:ln w="19050">
            <a:solidFill>
              <a:srgbClr val="2F6FDE"/>
            </a:solidFill>
            <a:prstDash val="solid"/>
          </a:ln>
        </p:spPr>
      </p:sp>
      <p:sp>
        <p:nvSpPr>
          <p:cNvPr id="17" name="Text 15"/>
          <p:cNvSpPr/>
          <p:nvPr/>
        </p:nvSpPr>
        <p:spPr>
          <a:xfrm>
            <a:off x="8219440" y="2489200"/>
            <a:ext cx="1802686" cy="289560"/>
          </a:xfrm>
          <a:custGeom>
            <a:avLst/>
            <a:gdLst/>
            <a:ahLst/>
            <a:cxnLst/>
            <a:rect l="l" t="t" r="r" b="b"/>
            <a:pathLst>
              <a:path w="1802686" h="289560">
                <a:moveTo>
                  <a:pt x="144780" y="0"/>
                </a:moveTo>
                <a:lnTo>
                  <a:pt x="1657906" y="0"/>
                </a:lnTo>
                <a:arcTo hR="144780" wR="144780" stAng="16200000" swAng="5400000"/>
                <a:lnTo>
                  <a:pt x="1802686" y="144780"/>
                </a:lnTo>
                <a:arcTo hR="144780" wR="144780" stAng="0" swAng="5400000"/>
                <a:lnTo>
                  <a:pt x="144780" y="289560"/>
                </a:lnTo>
                <a:arcTo hR="144780" wR="144780" stAng="5400000" swAng="5400000"/>
                <a:lnTo>
                  <a:pt x="0" y="144780"/>
                </a:lnTo>
                <a:arcTo hR="144780" wR="144780" stAng="10800000" swAng="5400000"/>
                <a:close/>
              </a:path>
            </a:pathLst>
          </a:custGeom>
          <a:solidFill>
            <a:srgbClr val="2F6FDE"/>
          </a:solidFill>
          <a:ln/>
        </p:spPr>
        <p:txBody>
          <a:bodyPr wrap="none" lIns="0" tIns="0" rIns="0" bIns="0" rtlCol="0" anchor="ctr">
            <a:normAutofit/>
          </a:bodyPr>
          <a:lstStyle/>
          <a:p>
            <a:pPr algn="ctr" indent="0" marL="0">
              <a:lnSpc>
                <a:spcPts val="1680"/>
              </a:lnSpc>
              <a:buNone/>
            </a:pPr>
            <a:r>
              <a:rPr lang="en-US" sz="1200" b="1" dirty="0">
                <a:solidFill>
                  <a:srgbClr val="F7F6F2"/>
                </a:solidFill>
                <a:latin typeface="Rubik" pitchFamily="34" charset="0"/>
                <a:ea typeface="Rubik" pitchFamily="34" charset="-122"/>
                <a:cs typeface="Rubik" pitchFamily="34" charset="-120"/>
              </a:rPr>
              <a:t>Recommended · built</a:t>
            </a:r>
            <a:endParaRPr lang="en-US" sz="1200" dirty="0"/>
          </a:p>
        </p:txBody>
      </p:sp>
      <p:sp>
        <p:nvSpPr>
          <p:cNvPr id="18" name="Text 16"/>
          <p:cNvSpPr/>
          <p:nvPr/>
        </p:nvSpPr>
        <p:spPr>
          <a:xfrm>
            <a:off x="8219440" y="2880360"/>
            <a:ext cx="3003398"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Rubik" pitchFamily="34" charset="0"/>
                <a:ea typeface="Rubik" pitchFamily="34" charset="-122"/>
                <a:cs typeface="Rubik" pitchFamily="34" charset="-120"/>
              </a:rPr>
              <a:t>C · Agent + control plane</a:t>
            </a:r>
            <a:endParaRPr lang="en-US" sz="1700" dirty="0"/>
          </a:p>
        </p:txBody>
      </p:sp>
      <p:sp>
        <p:nvSpPr>
          <p:cNvPr id="19" name="Text 17"/>
          <p:cNvSpPr/>
          <p:nvPr/>
        </p:nvSpPr>
        <p:spPr>
          <a:xfrm>
            <a:off x="8219440" y="3241040"/>
            <a:ext cx="300339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E"/>
                </a:solidFill>
                <a:latin typeface="IBM Plex Sans" pitchFamily="34" charset="0"/>
                <a:ea typeface="IBM Plex Sans" pitchFamily="34" charset="-122"/>
                <a:cs typeface="IBM Plex Sans" pitchFamily="34" charset="-120"/>
              </a:rPr>
              <a:t>The agent saves during the chat; the control plane checks every write.</a:t>
            </a:r>
            <a:endParaRPr lang="en-US" sz="1300" dirty="0"/>
          </a:p>
        </p:txBody>
      </p:sp>
      <p:sp>
        <p:nvSpPr>
          <p:cNvPr id="20" name="Text 18"/>
          <p:cNvSpPr/>
          <p:nvPr/>
        </p:nvSpPr>
        <p:spPr>
          <a:xfrm>
            <a:off x="8219440" y="3804920"/>
            <a:ext cx="300339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t>
            </a:r>
            <a:r>
              <a:rPr lang="en-US" sz="1300" dirty="0">
                <a:solidFill>
                  <a:srgbClr val="14213D"/>
                </a:solidFill>
                <a:latin typeface="IBM Plex Sans" pitchFamily="34" charset="0"/>
                <a:ea typeface="IBM Plex Sans" pitchFamily="34" charset="-122"/>
                <a:cs typeface="IBM Plex Sans" pitchFamily="34" charset="-120"/>
              </a:rPr>
              <a:t> Real time; can ask to confirm</a:t>
            </a:r>
            <a:endParaRPr lang="en-US" sz="1300" dirty="0"/>
          </a:p>
        </p:txBody>
      </p:sp>
      <p:sp>
        <p:nvSpPr>
          <p:cNvPr id="21" name="Text 19"/>
          <p:cNvSpPr/>
          <p:nvPr/>
        </p:nvSpPr>
        <p:spPr>
          <a:xfrm>
            <a:off x="8219440" y="4137660"/>
            <a:ext cx="300339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t>
            </a:r>
            <a:r>
              <a:rPr lang="en-US" sz="1300" dirty="0">
                <a:solidFill>
                  <a:srgbClr val="14213D"/>
                </a:solidFill>
                <a:latin typeface="IBM Plex Sans" pitchFamily="34" charset="0"/>
                <a:ea typeface="IBM Plex Sans" pitchFamily="34" charset="-122"/>
                <a:cs typeface="IBM Plex Sans" pitchFamily="34" charset="-120"/>
              </a:rPr>
              <a:t> Checked before it is stored</a:t>
            </a:r>
            <a:endParaRPr lang="en-US" sz="1300" dirty="0"/>
          </a:p>
        </p:txBody>
      </p:sp>
      <p:sp>
        <p:nvSpPr>
          <p:cNvPr id="22" name="Text 20"/>
          <p:cNvSpPr/>
          <p:nvPr/>
        </p:nvSpPr>
        <p:spPr>
          <a:xfrm>
            <a:off x="8219440" y="4470400"/>
            <a:ext cx="300339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a:t>
            </a:r>
            <a:r>
              <a:rPr lang="en-US" sz="1300" dirty="0">
                <a:solidFill>
                  <a:srgbClr val="14213D"/>
                </a:solidFill>
                <a:latin typeface="IBM Plex Sans" pitchFamily="34" charset="0"/>
                <a:ea typeface="IBM Plex Sans" pitchFamily="34" charset="-122"/>
                <a:cs typeface="IBM Plex Sans" pitchFamily="34" charset="-120"/>
              </a:rPr>
              <a:t> Quality needs evaluations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1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E"/>
                </a:solidFill>
                <a:latin typeface="Rubik" pitchFamily="34" charset="0"/>
                <a:ea typeface="Rubik" pitchFamily="34" charset="-122"/>
                <a:cs typeface="Rubik" pitchFamily="34" charset="-120"/>
              </a:rPr>
              <a:t>2 · STORAGE</a:t>
            </a:r>
            <a:endParaRPr lang="en-US" sz="1200" dirty="0"/>
          </a:p>
        </p:txBody>
      </p:sp>
      <p:sp>
        <p:nvSpPr>
          <p:cNvPr id="3" name="Text 1"/>
          <p:cNvSpPr/>
          <p:nvPr>
            <p:ph type="title"/>
          </p:nvPr>
        </p:nvSpPr>
        <p:spPr>
          <a:xfrm>
            <a:off x="812800" y="11277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Rubik" pitchFamily="34" charset="0"/>
                <a:ea typeface="Rubik" pitchFamily="34" charset="-122"/>
                <a:cs typeface="Rubik" pitchFamily="34" charset="-120"/>
              </a:rPr>
              <a:t>PostgreSQL or Memory Bank?</a:t>
            </a:r>
            <a:endParaRPr lang="en-US" sz="3000" dirty="0"/>
          </a:p>
        </p:txBody>
      </p:sp>
      <p:sp>
        <p:nvSpPr>
          <p:cNvPr id="4" name="Shape 2"/>
          <p:cNvSpPr/>
          <p:nvPr/>
        </p:nvSpPr>
        <p:spPr>
          <a:xfrm>
            <a:off x="822325" y="1835786"/>
            <a:ext cx="6103382" cy="2465070"/>
          </a:xfrm>
          <a:prstGeom prst="roundRect">
            <a:avLst>
              <a:gd name="adj" fmla="val 4766"/>
            </a:avLst>
          </a:prstGeom>
          <a:solidFill>
            <a:srgbClr val="FFFFFF"/>
          </a:solidFill>
          <a:ln w="19050">
            <a:solidFill>
              <a:srgbClr val="2F6FDE"/>
            </a:solidFill>
            <a:prstDash val="solid"/>
          </a:ln>
        </p:spPr>
      </p:sp>
      <p:sp>
        <p:nvSpPr>
          <p:cNvPr id="5" name="Text 3"/>
          <p:cNvSpPr/>
          <p:nvPr/>
        </p:nvSpPr>
        <p:spPr>
          <a:xfrm>
            <a:off x="1082040" y="2095500"/>
            <a:ext cx="57514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6FDE"/>
                </a:solidFill>
                <a:latin typeface="Rubik" pitchFamily="34" charset="0"/>
                <a:ea typeface="Rubik" pitchFamily="34" charset="-122"/>
                <a:cs typeface="Rubik" pitchFamily="34" charset="-120"/>
              </a:rPr>
              <a:t>Out of the box with Memory Bank</a:t>
            </a:r>
            <a:endParaRPr lang="en-US" sz="1800" dirty="0"/>
          </a:p>
        </p:txBody>
      </p:sp>
      <p:pic>
        <p:nvPicPr>
          <p:cNvPr id="6" name="Image 0" descr="Check">    </p:cNvPr>
          <p:cNvPicPr>
            <a:picLocks noChangeAspect="1"/>
          </p:cNvPicPr>
          <p:nvPr/>
        </p:nvPicPr>
        <p:blipFill>
          <a:blip r:embed="rId1"/>
          <a:srcRect l="0" r="0" t="0" b="0"/>
          <a:stretch/>
        </p:blipFill>
        <p:spPr>
          <a:xfrm>
            <a:off x="1082040" y="2494280"/>
            <a:ext cx="228600" cy="228600"/>
          </a:xfrm>
          <a:prstGeom prst="rect">
            <a:avLst/>
          </a:prstGeom>
        </p:spPr>
      </p:pic>
      <p:sp>
        <p:nvSpPr>
          <p:cNvPr id="7" name="Text 4"/>
          <p:cNvSpPr/>
          <p:nvPr/>
        </p:nvSpPr>
        <p:spPr>
          <a:xfrm>
            <a:off x="1399540" y="2484120"/>
            <a:ext cx="247443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Version history of every value</a:t>
            </a:r>
            <a:endParaRPr lang="en-US" sz="1400" dirty="0"/>
          </a:p>
        </p:txBody>
      </p:sp>
      <p:pic>
        <p:nvPicPr>
          <p:cNvPr id="8" name="Image 1" descr="Check">    </p:cNvPr>
          <p:cNvPicPr>
            <a:picLocks noChangeAspect="1"/>
          </p:cNvPicPr>
          <p:nvPr/>
        </p:nvPicPr>
        <p:blipFill>
          <a:blip r:embed="rId2"/>
          <a:srcRect l="0" r="0" t="0" b="0"/>
          <a:stretch/>
        </p:blipFill>
        <p:spPr>
          <a:xfrm>
            <a:off x="3873976" y="2494280"/>
            <a:ext cx="228600" cy="228600"/>
          </a:xfrm>
          <a:prstGeom prst="rect">
            <a:avLst/>
          </a:prstGeom>
        </p:spPr>
      </p:pic>
      <p:sp>
        <p:nvSpPr>
          <p:cNvPr id="9" name="Text 5"/>
          <p:cNvSpPr/>
          <p:nvPr/>
        </p:nvSpPr>
        <p:spPr>
          <a:xfrm>
            <a:off x="4191476" y="2484120"/>
            <a:ext cx="210035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Per-customer scoping</a:t>
            </a:r>
            <a:endParaRPr lang="en-US" sz="1400" dirty="0"/>
          </a:p>
        </p:txBody>
      </p:sp>
      <p:pic>
        <p:nvPicPr>
          <p:cNvPr id="10" name="Image 2" descr="Check">    </p:cNvPr>
          <p:cNvPicPr>
            <a:picLocks noChangeAspect="1"/>
          </p:cNvPicPr>
          <p:nvPr/>
        </p:nvPicPr>
        <p:blipFill>
          <a:blip r:embed="rId3"/>
          <a:srcRect l="0" r="0" t="0" b="0"/>
          <a:stretch/>
        </p:blipFill>
        <p:spPr>
          <a:xfrm>
            <a:off x="1082040" y="2743200"/>
            <a:ext cx="228600" cy="228600"/>
          </a:xfrm>
          <a:prstGeom prst="rect">
            <a:avLst/>
          </a:prstGeom>
        </p:spPr>
      </p:pic>
      <p:sp>
        <p:nvSpPr>
          <p:cNvPr id="11" name="Text 6"/>
          <p:cNvSpPr/>
          <p:nvPr/>
        </p:nvSpPr>
        <p:spPr>
          <a:xfrm>
            <a:off x="1399540" y="2733041"/>
            <a:ext cx="247443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Retrieval and semantic search</a:t>
            </a:r>
            <a:endParaRPr lang="en-US" sz="1400" dirty="0"/>
          </a:p>
        </p:txBody>
      </p:sp>
      <p:pic>
        <p:nvPicPr>
          <p:cNvPr id="12" name="Image 3" descr="Check">    </p:cNvPr>
          <p:cNvPicPr>
            <a:picLocks noChangeAspect="1"/>
          </p:cNvPicPr>
          <p:nvPr/>
        </p:nvPicPr>
        <p:blipFill>
          <a:blip r:embed="rId4"/>
          <a:srcRect l="0" r="0" t="0" b="0"/>
          <a:stretch/>
        </p:blipFill>
        <p:spPr>
          <a:xfrm>
            <a:off x="3873976" y="2743200"/>
            <a:ext cx="228600" cy="228600"/>
          </a:xfrm>
          <a:prstGeom prst="rect">
            <a:avLst/>
          </a:prstGeom>
        </p:spPr>
      </p:pic>
      <p:sp>
        <p:nvSpPr>
          <p:cNvPr id="13" name="Text 7"/>
          <p:cNvSpPr/>
          <p:nvPr/>
        </p:nvSpPr>
        <p:spPr>
          <a:xfrm>
            <a:off x="4191476" y="2733041"/>
            <a:ext cx="272470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Managed scale and durability</a:t>
            </a:r>
            <a:endParaRPr lang="en-US" sz="1400" dirty="0"/>
          </a:p>
        </p:txBody>
      </p:sp>
      <p:pic>
        <p:nvPicPr>
          <p:cNvPr id="14" name="Image 4" descr="Check">    </p:cNvPr>
          <p:cNvPicPr>
            <a:picLocks noChangeAspect="1"/>
          </p:cNvPicPr>
          <p:nvPr/>
        </p:nvPicPr>
        <p:blipFill>
          <a:blip r:embed="rId5"/>
          <a:srcRect l="0" r="0" t="0" b="0"/>
          <a:stretch/>
        </p:blipFill>
        <p:spPr>
          <a:xfrm>
            <a:off x="1082040" y="2992120"/>
            <a:ext cx="228600" cy="228600"/>
          </a:xfrm>
          <a:prstGeom prst="rect">
            <a:avLst/>
          </a:prstGeom>
        </p:spPr>
      </p:pic>
      <p:sp>
        <p:nvSpPr>
          <p:cNvPr id="15" name="Text 8"/>
          <p:cNvSpPr/>
          <p:nvPr/>
        </p:nvSpPr>
        <p:spPr>
          <a:xfrm>
            <a:off x="1399540" y="2981961"/>
            <a:ext cx="224313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 database to operate</a:t>
            </a:r>
            <a:endParaRPr lang="en-US" sz="1400" dirty="0"/>
          </a:p>
        </p:txBody>
      </p:sp>
      <p:pic>
        <p:nvPicPr>
          <p:cNvPr id="16" name="Image 5" descr="Check">    </p:cNvPr>
          <p:cNvPicPr>
            <a:picLocks noChangeAspect="1"/>
          </p:cNvPicPr>
          <p:nvPr/>
        </p:nvPicPr>
        <p:blipFill>
          <a:blip r:embed="rId6"/>
          <a:srcRect l="0" r="0" t="0" b="0"/>
          <a:stretch/>
        </p:blipFill>
        <p:spPr>
          <a:xfrm>
            <a:off x="3873976" y="2992120"/>
            <a:ext cx="228600" cy="228600"/>
          </a:xfrm>
          <a:prstGeom prst="rect">
            <a:avLst/>
          </a:prstGeom>
        </p:spPr>
      </p:pic>
      <p:sp>
        <p:nvSpPr>
          <p:cNvPr id="17" name="Text 9"/>
          <p:cNvSpPr/>
          <p:nvPr/>
        </p:nvSpPr>
        <p:spPr>
          <a:xfrm>
            <a:off x="4191476" y="2981961"/>
            <a:ext cx="264718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Deletion and expiry support</a:t>
            </a:r>
            <a:endParaRPr lang="en-US" sz="1400" dirty="0"/>
          </a:p>
        </p:txBody>
      </p:sp>
      <p:sp>
        <p:nvSpPr>
          <p:cNvPr id="18" name="Text 10"/>
          <p:cNvSpPr/>
          <p:nvPr/>
        </p:nvSpPr>
        <p:spPr>
          <a:xfrm>
            <a:off x="1082040" y="3345180"/>
            <a:ext cx="575147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4A5E"/>
                </a:solidFill>
                <a:latin typeface="IBM Plex Sans" pitchFamily="34" charset="0"/>
                <a:ea typeface="IBM Plex Sans" pitchFamily="34" charset="-122"/>
                <a:cs typeface="IBM Plex Sans" pitchFamily="34" charset="-120"/>
              </a:rPr>
              <a:t>With PostgreSQL we would build and run each of these ourselves.</a:t>
            </a:r>
            <a:endParaRPr lang="en-US" sz="1300" dirty="0"/>
          </a:p>
        </p:txBody>
      </p:sp>
      <p:sp>
        <p:nvSpPr>
          <p:cNvPr id="19" name="Shape 11"/>
          <p:cNvSpPr/>
          <p:nvPr/>
        </p:nvSpPr>
        <p:spPr>
          <a:xfrm>
            <a:off x="7141607" y="1829436"/>
            <a:ext cx="4234418" cy="2477770"/>
          </a:xfrm>
          <a:prstGeom prst="roundRect">
            <a:avLst>
              <a:gd name="adj" fmla="val 4997"/>
            </a:avLst>
          </a:prstGeom>
          <a:solidFill>
            <a:srgbClr val="FFFFFF"/>
          </a:solidFill>
          <a:ln w="6350">
            <a:solidFill>
              <a:srgbClr val="DDE2EA"/>
            </a:solidFill>
            <a:prstDash val="solid"/>
          </a:ln>
        </p:spPr>
      </p:sp>
      <p:sp>
        <p:nvSpPr>
          <p:cNvPr id="20" name="Text 12"/>
          <p:cNvSpPr/>
          <p:nvPr/>
        </p:nvSpPr>
        <p:spPr>
          <a:xfrm>
            <a:off x="7397512" y="2085341"/>
            <a:ext cx="383428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Rubik" pitchFamily="34" charset="0"/>
                <a:ea typeface="Rubik" pitchFamily="34" charset="-122"/>
                <a:cs typeface="Rubik" pitchFamily="34" charset="-120"/>
              </a:rPr>
              <a:t>What to watch</a:t>
            </a:r>
            <a:endParaRPr lang="en-US" sz="1800" dirty="0"/>
          </a:p>
        </p:txBody>
      </p:sp>
      <p:sp>
        <p:nvSpPr>
          <p:cNvPr id="21" name="Text 13"/>
          <p:cNvSpPr/>
          <p:nvPr/>
        </p:nvSpPr>
        <p:spPr>
          <a:xfrm>
            <a:off x="7397512" y="2461261"/>
            <a:ext cx="3834286"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Quota</a:t>
            </a:r>
            <a:r>
              <a:rPr lang="en-US" sz="1300" dirty="0">
                <a:solidFill>
                  <a:srgbClr val="14213D"/>
                </a:solidFill>
                <a:latin typeface="IBM Plex Sans" pitchFamily="34" charset="0"/>
                <a:ea typeface="IBM Plex Sans" pitchFamily="34" charset="-122"/>
                <a:cs typeface="IBM Plex Sans" pitchFamily="34" charset="-120"/>
              </a:rPr>
              <a:t> — 300 reads and 100 writes per minute by default; a 10× increase is agreed</a:t>
            </a:r>
            <a:endParaRPr lang="en-US" sz="1300" dirty="0"/>
          </a:p>
        </p:txBody>
      </p:sp>
      <p:sp>
        <p:nvSpPr>
          <p:cNvPr id="22" name="Text 14"/>
          <p:cNvSpPr/>
          <p:nvPr/>
        </p:nvSpPr>
        <p:spPr>
          <a:xfrm>
            <a:off x="7397512" y="3025141"/>
            <a:ext cx="3834286"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Latency</a:t>
            </a:r>
            <a:r>
              <a:rPr lang="en-US" sz="1300" dirty="0">
                <a:solidFill>
                  <a:srgbClr val="14213D"/>
                </a:solidFill>
                <a:latin typeface="IBM Plex Sans" pitchFamily="34" charset="0"/>
                <a:ea typeface="IBM Plex Sans" pitchFamily="34" charset="-122"/>
                <a:cs typeface="IBM Plex Sans" pitchFamily="34" charset="-120"/>
              </a:rPr>
              <a:t> — each call is an API call, slower than a local database</a:t>
            </a:r>
            <a:endParaRPr lang="en-US" sz="1300" dirty="0"/>
          </a:p>
        </p:txBody>
      </p:sp>
      <p:sp>
        <p:nvSpPr>
          <p:cNvPr id="23" name="Text 15"/>
          <p:cNvSpPr/>
          <p:nvPr/>
        </p:nvSpPr>
        <p:spPr>
          <a:xfrm>
            <a:off x="7397512" y="3589020"/>
            <a:ext cx="3834286"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Backup and restore</a:t>
            </a:r>
            <a:r>
              <a:rPr lang="en-US" sz="1300" dirty="0">
                <a:solidFill>
                  <a:srgbClr val="14213D"/>
                </a:solidFill>
                <a:latin typeface="IBM Plex Sans" pitchFamily="34" charset="0"/>
                <a:ea typeface="IBM Plex Sans" pitchFamily="34" charset="-122"/>
                <a:cs typeface="IBM Plex Sans" pitchFamily="34" charset="-120"/>
              </a:rPr>
              <a:t> — managed by Google, not by us</a:t>
            </a:r>
            <a:endParaRPr lang="en-US" sz="1300" dirty="0"/>
          </a:p>
        </p:txBody>
      </p:sp>
      <p:sp>
        <p:nvSpPr>
          <p:cNvPr id="24" name="Text 16"/>
          <p:cNvSpPr/>
          <p:nvPr/>
        </p:nvSpPr>
        <p:spPr>
          <a:xfrm>
            <a:off x="812800" y="458978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Decision:</a:t>
            </a:r>
            <a:r>
              <a:rPr lang="en-US" sz="1500" dirty="0">
                <a:solidFill>
                  <a:srgbClr val="14213D"/>
                </a:solidFill>
                <a:latin typeface="IBM Plex Sans" pitchFamily="34" charset="0"/>
                <a:ea typeface="IBM Plex Sans" pitchFamily="34" charset="-122"/>
                <a:cs typeface="IBM Plex Sans" pitchFamily="34" charset="-120"/>
              </a:rPr>
              <a:t> memory values in Memory Bank; governance data (schemas, approvals, consent, audit) in PostgreSQL.</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E"/>
                </a:solidFill>
                <a:latin typeface="Rubik" pitchFamily="34" charset="0"/>
                <a:ea typeface="Rubik" pitchFamily="34" charset="-122"/>
                <a:cs typeface="Rubik" pitchFamily="34" charset="-120"/>
              </a:rPr>
              <a:t>3 · GOVERNANCE</a:t>
            </a:r>
            <a:endParaRPr lang="en-US" sz="1200" dirty="0"/>
          </a:p>
        </p:txBody>
      </p:sp>
      <p:sp>
        <p:nvSpPr>
          <p:cNvPr id="3" name="Text 1"/>
          <p:cNvSpPr/>
          <p:nvPr>
            <p:ph type="title"/>
          </p:nvPr>
        </p:nvSpPr>
        <p:spPr>
          <a:xfrm>
            <a:off x="812800" y="1127761"/>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Rubik" pitchFamily="34" charset="0"/>
                <a:ea typeface="Rubik" pitchFamily="34" charset="-122"/>
                <a:cs typeface="Rubik" pitchFamily="34" charset="-120"/>
              </a:rPr>
              <a:t>Memory Bank stores. Our control plane decides who sees what.</a:t>
            </a:r>
            <a:endParaRPr lang="en-US" sz="3000" dirty="0"/>
          </a:p>
        </p:txBody>
      </p:sp>
      <p:sp>
        <p:nvSpPr>
          <p:cNvPr id="4" name="Shape 2"/>
          <p:cNvSpPr/>
          <p:nvPr/>
        </p:nvSpPr>
        <p:spPr>
          <a:xfrm>
            <a:off x="815975" y="2248536"/>
            <a:ext cx="2699226" cy="1271270"/>
          </a:xfrm>
          <a:prstGeom prst="roundRect">
            <a:avLst>
              <a:gd name="adj" fmla="val 7742"/>
            </a:avLst>
          </a:prstGeom>
          <a:solidFill>
            <a:srgbClr val="FFFFFF"/>
          </a:solidFill>
          <a:ln w="6350">
            <a:solidFill>
              <a:srgbClr val="DDE2EA"/>
            </a:solidFill>
            <a:prstDash val="solid"/>
          </a:ln>
        </p:spPr>
      </p:sp>
      <p:sp>
        <p:nvSpPr>
          <p:cNvPr id="5" name="Text 3"/>
          <p:cNvSpPr/>
          <p:nvPr/>
        </p:nvSpPr>
        <p:spPr>
          <a:xfrm>
            <a:off x="995680" y="2428241"/>
            <a:ext cx="241001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Agents</a:t>
            </a:r>
            <a:endParaRPr lang="en-US" sz="1600" dirty="0"/>
          </a:p>
        </p:txBody>
      </p:sp>
      <p:sp>
        <p:nvSpPr>
          <p:cNvPr id="6" name="Text 4"/>
          <p:cNvSpPr/>
          <p:nvPr/>
        </p:nvSpPr>
        <p:spPr>
          <a:xfrm>
            <a:off x="995680" y="2722880"/>
            <a:ext cx="2410011"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E"/>
                </a:solidFill>
                <a:latin typeface="IBM Plex Sans" pitchFamily="34" charset="0"/>
                <a:ea typeface="IBM Plex Sans" pitchFamily="34" charset="-122"/>
                <a:cs typeface="IBM Plex Sans" pitchFamily="34" charset="-120"/>
              </a:rPr>
              <a:t>KSA · private</a:t>
            </a:r>
            <a:endParaRPr lang="en-US" sz="1200" dirty="0"/>
          </a:p>
          <a:p>
            <a:pPr algn="l" indent="0" marL="0">
              <a:lnSpc>
                <a:spcPts val="1620"/>
              </a:lnSpc>
              <a:buNone/>
            </a:pPr>
            <a:r>
              <a:rPr lang="en-US" sz="1200" dirty="0">
                <a:solidFill>
                  <a:srgbClr val="3F4A5E"/>
                </a:solidFill>
                <a:latin typeface="IBM Plex Sans" pitchFamily="34" charset="0"/>
                <a:ea typeface="IBM Plex Sans" pitchFamily="34" charset="-122"/>
                <a:cs typeface="IBM Plex Sans" pitchFamily="34" charset="-120"/>
              </a:rPr>
              <a:t>Cooklist · hybrid</a:t>
            </a:r>
            <a:endParaRPr lang="en-US" sz="1200" dirty="0"/>
          </a:p>
          <a:p>
            <a:pPr algn="l" indent="0" marL="0">
              <a:lnSpc>
                <a:spcPts val="1620"/>
              </a:lnSpc>
              <a:buNone/>
            </a:pPr>
            <a:r>
              <a:rPr lang="en-US" sz="1200" dirty="0">
                <a:solidFill>
                  <a:srgbClr val="3F4A5E"/>
                </a:solidFill>
                <a:latin typeface="IBM Plex Sans" pitchFamily="34" charset="0"/>
                <a:ea typeface="IBM Plex Sans" pitchFamily="34" charset="-122"/>
                <a:cs typeface="IBM Plex Sans" pitchFamily="34" charset="-120"/>
              </a:rPr>
              <a:t>Meal Planner · consumer only</a:t>
            </a:r>
            <a:endParaRPr lang="en-US" sz="1200" dirty="0"/>
          </a:p>
        </p:txBody>
      </p:sp>
      <p:pic>
        <p:nvPicPr>
          <p:cNvPr id="7" name="Image 0" descr="connector">    </p:cNvPr>
          <p:cNvPicPr>
            <a:picLocks noChangeAspect="1"/>
          </p:cNvPicPr>
          <p:nvPr/>
        </p:nvPicPr>
        <p:blipFill>
          <a:blip r:embed="rId1"/>
          <a:srcRect l="0" r="0" t="0" b="0"/>
          <a:stretch/>
        </p:blipFill>
        <p:spPr>
          <a:xfrm>
            <a:off x="3645376" y="2807970"/>
            <a:ext cx="508000" cy="152400"/>
          </a:xfrm>
          <a:prstGeom prst="rect">
            <a:avLst/>
          </a:prstGeom>
        </p:spPr>
      </p:pic>
      <p:sp>
        <p:nvSpPr>
          <p:cNvPr id="8" name="Shape 5"/>
          <p:cNvSpPr/>
          <p:nvPr/>
        </p:nvSpPr>
        <p:spPr>
          <a:xfrm>
            <a:off x="4280376" y="2353311"/>
            <a:ext cx="3631248" cy="1061720"/>
          </a:xfrm>
          <a:prstGeom prst="roundRect">
            <a:avLst>
              <a:gd name="adj" fmla="val 9569"/>
            </a:avLst>
          </a:prstGeom>
          <a:solidFill>
            <a:srgbClr val="14213D"/>
          </a:solidFill>
          <a:ln/>
        </p:spPr>
      </p:sp>
      <p:sp>
        <p:nvSpPr>
          <p:cNvPr id="9" name="Text 6"/>
          <p:cNvSpPr/>
          <p:nvPr/>
        </p:nvSpPr>
        <p:spPr>
          <a:xfrm>
            <a:off x="4458176" y="2531111"/>
            <a:ext cx="337391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Rubik" pitchFamily="34" charset="0"/>
                <a:ea typeface="Rubik" pitchFamily="34" charset="-122"/>
                <a:cs typeface="Rubik" pitchFamily="34" charset="-120"/>
              </a:rPr>
              <a:t>Control plane</a:t>
            </a:r>
            <a:endParaRPr lang="en-US" sz="1600" dirty="0"/>
          </a:p>
        </p:txBody>
      </p:sp>
      <p:sp>
        <p:nvSpPr>
          <p:cNvPr id="10" name="Text 7"/>
          <p:cNvSpPr/>
          <p:nvPr/>
        </p:nvSpPr>
        <p:spPr>
          <a:xfrm>
            <a:off x="4458176" y="2825750"/>
            <a:ext cx="3373917"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3E6"/>
                </a:solidFill>
                <a:latin typeface="IBM Plex Sans" pitchFamily="34" charset="0"/>
                <a:ea typeface="IBM Plex Sans" pitchFamily="34" charset="-122"/>
                <a:cs typeface="IBM Plex Sans" pitchFamily="34" charset="-120"/>
              </a:rPr>
              <a:t>Checks every read and write against ownership, approvals and privacy rules</a:t>
            </a:r>
            <a:endParaRPr lang="en-US" sz="1200" dirty="0"/>
          </a:p>
        </p:txBody>
      </p:sp>
      <p:pic>
        <p:nvPicPr>
          <p:cNvPr id="11" name="Image 1" descr="connector">    </p:cNvPr>
          <p:cNvPicPr>
            <a:picLocks noChangeAspect="1"/>
          </p:cNvPicPr>
          <p:nvPr/>
        </p:nvPicPr>
        <p:blipFill>
          <a:blip r:embed="rId2"/>
          <a:srcRect l="0" r="0" t="0" b="0"/>
          <a:stretch/>
        </p:blipFill>
        <p:spPr>
          <a:xfrm>
            <a:off x="8038624" y="2807970"/>
            <a:ext cx="508000" cy="152400"/>
          </a:xfrm>
          <a:prstGeom prst="rect">
            <a:avLst/>
          </a:prstGeom>
        </p:spPr>
      </p:pic>
      <p:sp>
        <p:nvSpPr>
          <p:cNvPr id="12" name="Shape 8"/>
          <p:cNvSpPr/>
          <p:nvPr/>
        </p:nvSpPr>
        <p:spPr>
          <a:xfrm>
            <a:off x="8676799" y="2454275"/>
            <a:ext cx="2699226" cy="859790"/>
          </a:xfrm>
          <a:prstGeom prst="roundRect">
            <a:avLst>
              <a:gd name="adj" fmla="val 11448"/>
            </a:avLst>
          </a:prstGeom>
          <a:solidFill>
            <a:srgbClr val="FFFFFF"/>
          </a:solidFill>
          <a:ln w="6350">
            <a:solidFill>
              <a:srgbClr val="DDE2EA"/>
            </a:solidFill>
            <a:prstDash val="solid"/>
          </a:ln>
        </p:spPr>
      </p:sp>
      <p:sp>
        <p:nvSpPr>
          <p:cNvPr id="13" name="Text 9"/>
          <p:cNvSpPr/>
          <p:nvPr/>
        </p:nvSpPr>
        <p:spPr>
          <a:xfrm>
            <a:off x="8856504" y="2633980"/>
            <a:ext cx="241001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Memory Bank</a:t>
            </a:r>
            <a:endParaRPr lang="en-US" sz="1600" dirty="0"/>
          </a:p>
        </p:txBody>
      </p:sp>
      <p:sp>
        <p:nvSpPr>
          <p:cNvPr id="14" name="Text 10"/>
          <p:cNvSpPr/>
          <p:nvPr/>
        </p:nvSpPr>
        <p:spPr>
          <a:xfrm>
            <a:off x="8856504" y="2928620"/>
            <a:ext cx="2410011"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A5E"/>
                </a:solidFill>
                <a:latin typeface="IBM Plex Sans" pitchFamily="34" charset="0"/>
                <a:ea typeface="IBM Plex Sans" pitchFamily="34" charset="-122"/>
                <a:cs typeface="IBM Plex Sans" pitchFamily="34" charset="-120"/>
              </a:rPr>
              <a:t>Stores the approved values</a:t>
            </a:r>
            <a:endParaRPr lang="en-US" sz="1200" dirty="0"/>
          </a:p>
        </p:txBody>
      </p:sp>
      <p:sp>
        <p:nvSpPr>
          <p:cNvPr id="15" name="Text 11"/>
          <p:cNvSpPr/>
          <p:nvPr/>
        </p:nvSpPr>
        <p:spPr>
          <a:xfrm>
            <a:off x="812800" y="3802380"/>
            <a:ext cx="5441696"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Ownership</a:t>
            </a:r>
            <a:r>
              <a:rPr lang="en-US" sz="1400" dirty="0">
                <a:solidFill>
                  <a:srgbClr val="14213D"/>
                </a:solidFill>
                <a:latin typeface="IBM Plex Sans" pitchFamily="34" charset="0"/>
                <a:ea typeface="IBM Plex Sans" pitchFamily="34" charset="-122"/>
                <a:cs typeface="IBM Plex Sans" pitchFamily="34" charset="-120"/>
              </a:rPr>
              <a:t> — each team declares the preferences it owns</a:t>
            </a:r>
            <a:endParaRPr lang="en-US" sz="1400" dirty="0"/>
          </a:p>
        </p:txBody>
      </p:sp>
      <p:sp>
        <p:nvSpPr>
          <p:cNvPr id="16" name="Text 12"/>
          <p:cNvSpPr/>
          <p:nvPr/>
        </p:nvSpPr>
        <p:spPr>
          <a:xfrm>
            <a:off x="6096000" y="3802380"/>
            <a:ext cx="5441696"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Per-preference approval</a:t>
            </a:r>
            <a:r>
              <a:rPr lang="en-US" sz="1400" dirty="0">
                <a:solidFill>
                  <a:srgbClr val="14213D"/>
                </a:solidFill>
                <a:latin typeface="IBM Plex Sans" pitchFamily="34" charset="0"/>
                <a:ea typeface="IBM Plex Sans" pitchFamily="34" charset="-122"/>
                <a:cs typeface="IBM Plex Sans" pitchFamily="34" charset="-120"/>
              </a:rPr>
              <a:t> — read, or read and write</a:t>
            </a:r>
            <a:endParaRPr lang="en-US" sz="1400" dirty="0"/>
          </a:p>
        </p:txBody>
      </p:sp>
      <p:sp>
        <p:nvSpPr>
          <p:cNvPr id="17" name="Text 13"/>
          <p:cNvSpPr/>
          <p:nvPr/>
        </p:nvSpPr>
        <p:spPr>
          <a:xfrm>
            <a:off x="812800" y="4042411"/>
            <a:ext cx="5441696"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Sensitivity</a:t>
            </a:r>
            <a:r>
              <a:rPr lang="en-US" sz="1400" dirty="0">
                <a:solidFill>
                  <a:srgbClr val="14213D"/>
                </a:solidFill>
                <a:latin typeface="IBM Plex Sans" pitchFamily="34" charset="0"/>
                <a:ea typeface="IBM Plex Sans" pitchFamily="34" charset="-122"/>
                <a:cs typeface="IBM Plex Sans" pitchFamily="34" charset="-120"/>
              </a:rPr>
              <a:t> — sensitive only if stated; restricted never stored</a:t>
            </a:r>
            <a:endParaRPr lang="en-US" sz="1400" dirty="0"/>
          </a:p>
        </p:txBody>
      </p:sp>
      <p:sp>
        <p:nvSpPr>
          <p:cNvPr id="18" name="Text 14"/>
          <p:cNvSpPr/>
          <p:nvPr/>
        </p:nvSpPr>
        <p:spPr>
          <a:xfrm>
            <a:off x="6096000" y="4042411"/>
            <a:ext cx="5441696"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Health data</a:t>
            </a:r>
            <a:r>
              <a:rPr lang="en-US" sz="1400" dirty="0">
                <a:solidFill>
                  <a:srgbClr val="14213D"/>
                </a:solidFill>
                <a:latin typeface="IBM Plex Sans" pitchFamily="34" charset="0"/>
                <a:ea typeface="IBM Plex Sans" pitchFamily="34" charset="-122"/>
                <a:cs typeface="IBM Plex Sans" pitchFamily="34" charset="-120"/>
              </a:rPr>
              <a:t> — customer confirms; consent recorded</a:t>
            </a:r>
            <a:endParaRPr lang="en-US" sz="1400" dirty="0"/>
          </a:p>
        </p:txBody>
      </p:sp>
      <p:sp>
        <p:nvSpPr>
          <p:cNvPr id="19" name="Text 15"/>
          <p:cNvSpPr/>
          <p:nvPr/>
        </p:nvSpPr>
        <p:spPr>
          <a:xfrm>
            <a:off x="812800" y="4282441"/>
            <a:ext cx="5441696"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Purpose, retention, deletion</a:t>
            </a:r>
            <a:r>
              <a:rPr lang="en-US" sz="1400" dirty="0">
                <a:solidFill>
                  <a:srgbClr val="14213D"/>
                </a:solidFill>
                <a:latin typeface="IBM Plex Sans" pitchFamily="34" charset="0"/>
                <a:ea typeface="IBM Plex Sans" pitchFamily="34" charset="-122"/>
                <a:cs typeface="IBM Plex Sans" pitchFamily="34" charset="-120"/>
              </a:rPr>
              <a:t> — enforced centrally</a:t>
            </a:r>
            <a:endParaRPr lang="en-US" sz="1400" dirty="0"/>
          </a:p>
        </p:txBody>
      </p:sp>
      <p:sp>
        <p:nvSpPr>
          <p:cNvPr id="20" name="Text 16"/>
          <p:cNvSpPr/>
          <p:nvPr/>
        </p:nvSpPr>
        <p:spPr>
          <a:xfrm>
            <a:off x="6096000" y="4282441"/>
            <a:ext cx="5441696"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4213D"/>
                </a:solidFill>
                <a:latin typeface="IBM Plex Sans" pitchFamily="34" charset="0"/>
                <a:ea typeface="IBM Plex Sans" pitchFamily="34" charset="-122"/>
                <a:cs typeface="IBM Plex Sans" pitchFamily="34" charset="-120"/>
              </a:rPr>
              <a:t>Audit</a:t>
            </a:r>
            <a:r>
              <a:rPr lang="en-US" sz="1400" dirty="0">
                <a:solidFill>
                  <a:srgbClr val="14213D"/>
                </a:solidFill>
                <a:latin typeface="IBM Plex Sans" pitchFamily="34" charset="0"/>
                <a:ea typeface="IBM Plex Sans" pitchFamily="34" charset="-122"/>
                <a:cs typeface="IBM Plex Sans" pitchFamily="34" charset="-120"/>
              </a:rPr>
              <a:t> — every save or refusal logged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1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E"/>
                </a:solidFill>
                <a:latin typeface="Rubik" pitchFamily="34" charset="0"/>
                <a:ea typeface="Rubik" pitchFamily="34" charset="-122"/>
                <a:cs typeface="Rubik" pitchFamily="34" charset="-120"/>
              </a:rPr>
              <a:t>RECOMMENDATION</a:t>
            </a:r>
            <a:endParaRPr lang="en-US" sz="1200" dirty="0"/>
          </a:p>
        </p:txBody>
      </p:sp>
      <p:sp>
        <p:nvSpPr>
          <p:cNvPr id="3" name="Text 1"/>
          <p:cNvSpPr/>
          <p:nvPr>
            <p:ph type="title"/>
          </p:nvPr>
        </p:nvSpPr>
        <p:spPr>
          <a:xfrm>
            <a:off x="812800" y="1127761"/>
            <a:ext cx="10883392"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Rubik" pitchFamily="34" charset="0"/>
                <a:ea typeface="Rubik" pitchFamily="34" charset="-122"/>
                <a:cs typeface="Rubik" pitchFamily="34" charset="-120"/>
              </a:rPr>
              <a:t>Managed storage, with privacy and sharing decisions kept in our hands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255521"/>
          <a:ext cx="5896848" cy="2032000"/>
        </p:xfrm>
        <a:graphic>
          <a:graphicData uri="http://schemas.openxmlformats.org/drawingml/2006/table">
            <a:tbl>
              <a:tblPr/>
              <a:tblGrid>
                <a:gridCol w="1769054"/>
                <a:gridCol w="4127794"/>
              </a:tblGrid>
              <a:tr h="383540">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Criterion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4"/>
                      </a:solidFill>
                      <a:prstDash val="solid"/>
                      <a:round/>
                      <a:headEnd type="none" w="med" len="med"/>
                      <a:tailEnd type="none" w="med" len="med"/>
                    </a:lnL>
                    <a:lnR w="12700" cap="flat" cmpd="sng" algn="ctr">
                      <a:solidFill>
                        <a:srgbClr val="B1B2B6"/>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B1B2B6"/>
                      </a:solidFill>
                      <a:prstDash val="solid"/>
                      <a:round/>
                      <a:headEnd type="none" w="med" len="med"/>
                      <a:tailEnd type="none" w="med" len="med"/>
                    </a:lnB>
                    <a:solidFill>
                      <a:srgbClr val="DDDFE4"/>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Choice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1B2B6"/>
                      </a:solidFill>
                      <a:prstDash val="solid"/>
                      <a:round/>
                      <a:headEnd type="none" w="med" len="med"/>
                      <a:tailEnd type="none" w="med" len="med"/>
                    </a:lnL>
                    <a:lnR w="12700" cap="flat" cmpd="sng" algn="ctr">
                      <a:solidFill>
                        <a:srgbClr val="B1B2B6"/>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B1B2B6"/>
                      </a:solidFill>
                      <a:prstDash val="solid"/>
                      <a:round/>
                      <a:headEnd type="none" w="med" len="med"/>
                      <a:tailEnd type="none" w="med" len="med"/>
                    </a:lnB>
                    <a:solidFill>
                      <a:srgbClr val="DDDFE4"/>
                    </a:solidFill>
                  </a:tcPr>
                </a:tc>
              </a:tr>
              <a:tr h="38354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Extraction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1B2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Agent-level, checked by the control plane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1B2B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3246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Storage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Memory Bank for values; PostgreSQL for governance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4"/>
                      </a:solidFill>
                      <a:prstDash val="solid"/>
                      <a:round/>
                      <a:headEnd type="none" w="med" len="med"/>
                      <a:tailEnd type="none" w="med" len="med"/>
                    </a:lnL>
                    <a:lnR w="12700" cap="flat" cmpd="sng" algn="ctr">
                      <a:solidFill>
                        <a:srgbClr val="BEC0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4"/>
                      </a:solidFill>
                      <a:prstDash val="solid"/>
                      <a:round/>
                      <a:headEnd type="none" w="med" len="med"/>
                      <a:tailEnd type="none" w="med" len="med"/>
                    </a:lnB>
                  </a:tcPr>
                </a:tc>
              </a:tr>
              <a:tr h="63246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Governance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Control plane: ownership, approvals, privacy rules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Shape 2"/>
          <p:cNvSpPr/>
          <p:nvPr/>
        </p:nvSpPr>
        <p:spPr>
          <a:xfrm>
            <a:off x="6976983" y="2248536"/>
            <a:ext cx="4399042" cy="2263775"/>
          </a:xfrm>
          <a:prstGeom prst="roundRect">
            <a:avLst>
              <a:gd name="adj" fmla="val 5470"/>
            </a:avLst>
          </a:prstGeom>
          <a:solidFill>
            <a:srgbClr val="FFFFFF"/>
          </a:solidFill>
          <a:ln w="6350">
            <a:solidFill>
              <a:srgbClr val="DDE2EA"/>
            </a:solidFill>
            <a:prstDash val="solid"/>
          </a:ln>
        </p:spPr>
      </p:sp>
      <p:sp>
        <p:nvSpPr>
          <p:cNvPr id="6" name="Text 3"/>
          <p:cNvSpPr/>
          <p:nvPr/>
        </p:nvSpPr>
        <p:spPr>
          <a:xfrm>
            <a:off x="7207488" y="2479039"/>
            <a:ext cx="405617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Rubik" pitchFamily="34" charset="0"/>
                <a:ea typeface="Rubik" pitchFamily="34" charset="-122"/>
                <a:cs typeface="Rubik" pitchFamily="34" charset="-120"/>
              </a:rPr>
              <a:t>Next steps</a:t>
            </a:r>
            <a:endParaRPr lang="en-US" sz="1600" dirty="0"/>
          </a:p>
        </p:txBody>
      </p:sp>
      <p:sp>
        <p:nvSpPr>
          <p:cNvPr id="7" name="Text 4"/>
          <p:cNvSpPr/>
          <p:nvPr/>
        </p:nvSpPr>
        <p:spPr>
          <a:xfrm>
            <a:off x="7207488" y="2811782"/>
            <a:ext cx="4056173"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1. Non-production infrastructure</a:t>
            </a:r>
            <a:endParaRPr lang="en-US" sz="1300" dirty="0"/>
          </a:p>
        </p:txBody>
      </p:sp>
      <p:sp>
        <p:nvSpPr>
          <p:cNvPr id="8" name="Text 5"/>
          <p:cNvSpPr/>
          <p:nvPr/>
        </p:nvSpPr>
        <p:spPr>
          <a:xfrm>
            <a:off x="7207488" y="3123564"/>
            <a:ext cx="4056173"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2. Load test at the real quota</a:t>
            </a:r>
            <a:endParaRPr lang="en-US" sz="1300" dirty="0"/>
          </a:p>
        </p:txBody>
      </p:sp>
      <p:sp>
        <p:nvSpPr>
          <p:cNvPr id="9" name="Text 6"/>
          <p:cNvSpPr/>
          <p:nvPr/>
        </p:nvSpPr>
        <p:spPr>
          <a:xfrm>
            <a:off x="7207488" y="3435350"/>
            <a:ext cx="4056173"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3. MCP server for agents</a:t>
            </a:r>
            <a:endParaRPr lang="en-US" sz="1300" dirty="0"/>
          </a:p>
        </p:txBody>
      </p:sp>
      <p:sp>
        <p:nvSpPr>
          <p:cNvPr id="10" name="Text 7"/>
          <p:cNvSpPr/>
          <p:nvPr/>
        </p:nvSpPr>
        <p:spPr>
          <a:xfrm>
            <a:off x="7207488" y="3747136"/>
            <a:ext cx="4056173"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4. Production authentication</a:t>
            </a:r>
            <a:endParaRPr lang="en-US" sz="1300" dirty="0"/>
          </a:p>
        </p:txBody>
      </p:sp>
      <p:sp>
        <p:nvSpPr>
          <p:cNvPr id="11" name="Text 8"/>
          <p:cNvSpPr/>
          <p:nvPr/>
        </p:nvSpPr>
        <p:spPr>
          <a:xfrm>
            <a:off x="7207488" y="4058921"/>
            <a:ext cx="4056173"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BM Plex Sans" pitchFamily="34" charset="0"/>
                <a:ea typeface="IBM Plex Sans" pitchFamily="34" charset="-122"/>
                <a:cs typeface="IBM Plex Sans" pitchFamily="34" charset="-120"/>
              </a:rPr>
              <a:t>5. Privacy tiers and retention sign-off</a:t>
            </a:r>
            <a:endParaRPr lang="en-US" sz="1300" dirty="0"/>
          </a:p>
        </p:txBody>
      </p:sp>
    </p:spTree>
  </p:cSld>
  <p:clrMapOvr>
    <a:masterClrMapping/>
  </p:clrMapOvr>
</p:sld>
</file>

<file path=ppt/theme/theme1.xml><?xml version="1.0" encoding="utf-8"?>
<a:theme xmlns:a="http://schemas.openxmlformats.org/drawingml/2006/main" name="Memory Bank Evaluation">
  <a:themeElements>
    <a:clrScheme name="Memory Bank Evaluation">
      <a:dk1>
        <a:srgbClr val="14213D"/>
      </a:dk1>
      <a:lt1>
        <a:srgbClr val="F7F6F2"/>
      </a:lt1>
      <a:dk2>
        <a:srgbClr val="4D566A"/>
      </a:dk2>
      <a:lt2>
        <a:srgbClr val="E0E1E0"/>
      </a:lt2>
      <a:accent1>
        <a:srgbClr val="2F6FDE"/>
      </a:accent1>
      <a:accent2>
        <a:srgbClr val="8FB4F5"/>
      </a:accent2>
      <a:accent3>
        <a:srgbClr val="3F4A5E"/>
      </a:accent3>
      <a:accent4>
        <a:srgbClr val="C9D3E6"/>
      </a:accent4>
      <a:accent5>
        <a:srgbClr val="9AA0A6"/>
      </a:accent5>
      <a:accent6>
        <a:srgbClr val="6F7685"/>
      </a:accent6>
      <a:hlink>
        <a:srgbClr val="0563C1"/>
      </a:hlink>
      <a:folHlink>
        <a:srgbClr val="954F72"/>
      </a:folHlink>
    </a:clrScheme>
    <a:fontScheme name="Memory Bank Evaluation">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Bank Evaluation</dc:title>
  <dc:subject/>
  <dc:creator/>
  <cp:lastModifiedBy/>
  <cp:revision>1</cp:revision>
  <dcterms:created xsi:type="dcterms:W3CDTF">2026-10-01T15:23:53Z</dcterms:created>
  <dcterms:modified xsi:type="dcterms:W3CDTF">2026-10-01T15:23:53Z</dcterms:modified>
</cp:coreProperties>
</file>