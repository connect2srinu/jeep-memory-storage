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37160"/>
            <a:ext cx="11859768" cy="530352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16459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"/>
            <a:ext cx="10881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What Should the Agent Remember?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0E3E70"/>
                </a:solidFill>
                <a:latin typeface="Aptos"/>
              </a:rPr>
              <a:t>Not every customer statement should be saved. Business policy defines what agents may remember.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703320" cy="50749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3E70"/>
                </a:solidFill>
                <a:latin typeface="Aptos"/>
              </a:rPr>
              <a:t>Kroger Shopping Assistant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01952"/>
            <a:ext cx="502920" cy="502920"/>
          </a:xfrm>
          <a:prstGeom prst="ellipse">
            <a:avLst/>
          </a:prstGeom>
          <a:solidFill>
            <a:srgbClr val="0E3E70"/>
          </a:solidFill>
          <a:ln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1828800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1883664"/>
            <a:ext cx="2103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I prefer organic milk
for my groceries.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2633472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2688336"/>
            <a:ext cx="2103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I'm allergic to peanuts.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438144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3493008"/>
            <a:ext cx="2103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My daughter prefers
lactose-free milk.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4352544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4407407"/>
            <a:ext cx="21031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Remember my home address
and phone number.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417320"/>
            <a:ext cx="6675120" cy="93268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66360" y="1664208"/>
            <a:ext cx="420624" cy="420624"/>
          </a:xfrm>
          <a:prstGeom prst="ellipse">
            <a:avLst/>
          </a:prstGeom>
          <a:solidFill>
            <a:srgbClr val="189658"/>
          </a:solidFill>
          <a:ln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166420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490472"/>
            <a:ext cx="29260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9658"/>
                </a:solidFill>
                <a:latin typeface="Aptos"/>
              </a:rPr>
              <a:t>STANDARD PREFERENCE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70992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9658"/>
                </a:solidFill>
                <a:latin typeface="Aptos"/>
              </a:rPr>
              <a:t>Allowed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993392"/>
            <a:ext cx="5212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C6975"/>
                </a:solidFill>
                <a:latin typeface="Aptos"/>
              </a:rPr>
              <a:t>Save to governed 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2606040"/>
            <a:ext cx="6675120" cy="932688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FFF4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66360" y="2852928"/>
            <a:ext cx="420624" cy="420624"/>
          </a:xfrm>
          <a:prstGeom prst="ellipse">
            <a:avLst/>
          </a:prstGeom>
          <a:solidFill>
            <a:srgbClr val="DE8E18"/>
          </a:solidFill>
          <a:ln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285292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679192"/>
            <a:ext cx="29260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DE8E18"/>
                </a:solidFill>
                <a:latin typeface="Aptos"/>
              </a:rPr>
              <a:t>SENSITIVE PREFERENCE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89864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DE8E18"/>
                </a:solidFill>
                <a:latin typeface="Aptos"/>
              </a:rPr>
              <a:t>Requires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182112"/>
            <a:ext cx="5212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C6975"/>
                </a:solidFill>
                <a:latin typeface="Aptos"/>
              </a:rPr>
              <a:t>Apply consent / policy rules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2040" y="3794760"/>
            <a:ext cx="6675120" cy="93268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66360" y="4041648"/>
            <a:ext cx="420624" cy="420624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66360" y="404164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867912"/>
            <a:ext cx="29260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E75D2"/>
                </a:solidFill>
                <a:latin typeface="Aptos"/>
              </a:rPr>
              <a:t>HOUSEHOLD PREFERENCE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08736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E75D2"/>
                </a:solidFill>
                <a:latin typeface="Aptos"/>
              </a:rPr>
              <a:t>Confirm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370832"/>
            <a:ext cx="5212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C6975"/>
                </a:solidFill>
                <a:latin typeface="Aptos"/>
              </a:rPr>
              <a:t>Save for appropriate subject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92040" y="4983480"/>
            <a:ext cx="6675120" cy="93268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66360" y="5230368"/>
            <a:ext cx="420624" cy="420624"/>
          </a:xfrm>
          <a:prstGeom prst="ellipse">
            <a:avLst/>
          </a:prstGeom>
          <a:solidFill>
            <a:srgbClr val="CD3A3A"/>
          </a:solidFill>
          <a:ln>
            <a:solidFill>
              <a:srgbClr val="C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5230368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5056632"/>
            <a:ext cx="29260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CD3A3A"/>
                </a:solidFill>
                <a:latin typeface="Aptos"/>
              </a:rPr>
              <a:t>RESTRICTED INFORMATION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5276088"/>
            <a:ext cx="4297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CD3A3A"/>
                </a:solidFill>
                <a:latin typeface="Aptos"/>
              </a:rPr>
              <a:t>Do not save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559552"/>
            <a:ext cx="5212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C6975"/>
                </a:solidFill>
                <a:latin typeface="Aptos"/>
              </a:rPr>
              <a:t>Blocked by business policy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749039" y="1874519"/>
            <a:ext cx="1078993" cy="274321"/>
          </a:xfrm>
          <a:prstGeom prst="line">
            <a:avLst/>
          </a:prstGeom>
          <a:ln w="2159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49039" y="2953512"/>
            <a:ext cx="1078993" cy="109728"/>
          </a:xfrm>
          <a:prstGeom prst="line">
            <a:avLst/>
          </a:prstGeom>
          <a:ln w="2159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749039" y="3758184"/>
            <a:ext cx="1078993" cy="493776"/>
          </a:xfrm>
          <a:prstGeom prst="line">
            <a:avLst/>
          </a:prstGeom>
          <a:ln w="2159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749039" y="4672584"/>
            <a:ext cx="1078993" cy="768096"/>
          </a:xfrm>
          <a:prstGeom prst="line">
            <a:avLst/>
          </a:prstGeom>
          <a:ln w="2159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37160"/>
            <a:ext cx="11859768" cy="530352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16459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"/>
            <a:ext cx="10881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Business Requirements Drive the Memory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0E3E70"/>
                </a:solidFill>
                <a:latin typeface="Aptos"/>
              </a:rPr>
              <a:t>Business needs are translated into reusable platform capabilities.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E3E70"/>
                </a:solidFill>
                <a:latin typeface="Aptos"/>
              </a:rPr>
              <a:t>Business Need /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234440"/>
            <a:ext cx="4709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E3E70"/>
                </a:solidFill>
                <a:latin typeface="Aptos"/>
              </a:rPr>
              <a:t>Platform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What can we remember?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40680" y="1952243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03720" y="1737360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1737360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Memory topics + schemas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249424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49424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Is it sensitive?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40680" y="2464308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03720" y="2249424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2249424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Classification + policy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61488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761488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Do we need consent?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40680" y="2976372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03720" y="2761488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0608" y="2761488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Consent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273552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273552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Whose preference is it?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40680" y="3488436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03720" y="3273552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3273552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Member / household context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785616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785616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Can another agent use it?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40680" y="4000500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903720" y="3785616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0608" y="3785616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Access grants + cross-agent sharing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297680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297680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Can requirements evolve?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40680" y="4512564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903720" y="4297680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0608" y="4297680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Schema versioning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809744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809744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Why was this saved?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5024628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03720" y="4809744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4809744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Audit trail + explainability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5321808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321808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Can the customer forget it?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5536692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903720" y="5321808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50608" y="5321808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Memory lifecycle: delete / forget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5833872"/>
            <a:ext cx="4709160" cy="4297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E7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833872"/>
            <a:ext cx="429768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Will this scale?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40680" y="6048756"/>
            <a:ext cx="1280160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903720" y="5833872"/>
            <a:ext cx="4709160" cy="4297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E4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50608" y="5833872"/>
            <a:ext cx="4251960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E2328"/>
                </a:solidFill>
                <a:latin typeface="Aptos"/>
              </a:rPr>
              <a:t>Performance + cost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37160"/>
            <a:ext cx="11859768" cy="530352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16459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"/>
            <a:ext cx="10881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One Customer, Multiple Agents, One Governed Memory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0E3E70"/>
                </a:solidFill>
                <a:latin typeface="Aptos"/>
              </a:rPr>
              <a:t>Build governance once and reuse it consistently across agents.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743200"/>
            <a:ext cx="822960" cy="822960"/>
          </a:xfrm>
          <a:prstGeom prst="ellipse">
            <a:avLst/>
          </a:prstGeom>
          <a:solidFill>
            <a:srgbClr val="0E3E70"/>
          </a:solidFill>
          <a:ln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361188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E3E70"/>
                </a:solidFill>
                <a:latin typeface="Aptos"/>
              </a:rPr>
              <a:t>Customer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417320"/>
            <a:ext cx="2103120" cy="65836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417320"/>
            <a:ext cx="1828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E75D2"/>
                </a:solidFill>
                <a:latin typeface="Aptos"/>
              </a:rPr>
              <a:t>KSA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508760" y="1746504"/>
            <a:ext cx="365759" cy="1408176"/>
          </a:xfrm>
          <a:prstGeom prst="line">
            <a:avLst/>
          </a:prstGeom>
          <a:ln w="1778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65960" y="2423160"/>
            <a:ext cx="2103120" cy="65836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423160"/>
            <a:ext cx="1828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9658"/>
                </a:solidFill>
                <a:latin typeface="Aptos"/>
              </a:rPr>
              <a:t>Pharmacy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508760" y="2752344"/>
            <a:ext cx="365759" cy="402336"/>
          </a:xfrm>
          <a:prstGeom prst="line">
            <a:avLst/>
          </a:prstGeom>
          <a:ln w="1778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965960" y="3429000"/>
            <a:ext cx="2103120" cy="658368"/>
          </a:xfrm>
          <a:prstGeom prst="roundRect">
            <a:avLst/>
          </a:prstGeom>
          <a:solidFill>
            <a:srgbClr val="EFE9FA"/>
          </a:solidFill>
          <a:ln w="12700"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429000"/>
            <a:ext cx="1828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651B4"/>
                </a:solidFill>
                <a:latin typeface="Aptos"/>
              </a:rPr>
              <a:t>Meal Planning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3154680"/>
            <a:ext cx="365759" cy="603504"/>
          </a:xfrm>
          <a:prstGeom prst="line">
            <a:avLst/>
          </a:prstGeom>
          <a:ln w="1778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965960" y="4434840"/>
            <a:ext cx="2103120" cy="658368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434840"/>
            <a:ext cx="1828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DE8E18"/>
                </a:solidFill>
                <a:latin typeface="Aptos"/>
              </a:rPr>
              <a:t>Future Agents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08760" y="3154680"/>
            <a:ext cx="365759" cy="1609344"/>
          </a:xfrm>
          <a:prstGeom prst="line">
            <a:avLst/>
          </a:prstGeom>
          <a:ln w="1778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00600" y="1417320"/>
            <a:ext cx="3383280" cy="3840480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664208"/>
            <a:ext cx="2834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GEAP Control 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2240280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✓  Topics &amp; Schemas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2688336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✓  Policies &amp; Consent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136392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✓  Access &amp; Sharing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584448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✓  Resolution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032504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✓  Audit &amp;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68" y="4480560"/>
            <a:ext cx="25603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✓  Lifecycle Management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14800" y="1746504"/>
            <a:ext cx="594360" cy="1591056"/>
          </a:xfrm>
          <a:prstGeom prst="line">
            <a:avLst/>
          </a:prstGeom>
          <a:ln w="1905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14800" y="2752344"/>
            <a:ext cx="594360" cy="585216"/>
          </a:xfrm>
          <a:prstGeom prst="line">
            <a:avLst/>
          </a:prstGeom>
          <a:ln w="1905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114800" y="3337560"/>
            <a:ext cx="594360" cy="420624"/>
          </a:xfrm>
          <a:prstGeom prst="line">
            <a:avLst/>
          </a:prstGeom>
          <a:ln w="1905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114800" y="3337560"/>
            <a:ext cx="594360" cy="1426464"/>
          </a:xfrm>
          <a:prstGeom prst="line">
            <a:avLst/>
          </a:prstGeom>
          <a:ln w="1905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915400" y="2103120"/>
            <a:ext cx="2560320" cy="2103120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48088" y="2423160"/>
            <a:ext cx="685800" cy="685800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48088" y="2423160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46120"/>
            <a:ext cx="2103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E3E70"/>
                </a:solidFill>
                <a:latin typeface="Aptos"/>
              </a:rPr>
              <a:t>Vertex AI
Memory Bank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211312" y="3154680"/>
            <a:ext cx="585216" cy="182880"/>
          </a:xfrm>
          <a:prstGeom prst="line">
            <a:avLst/>
          </a:prstGeom>
          <a:ln w="2794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389120" y="5715000"/>
            <a:ext cx="4114800" cy="502920"/>
          </a:xfrm>
          <a:prstGeom prst="roundRect">
            <a:avLst/>
          </a:prstGeom>
          <a:solidFill>
            <a:srgbClr val="1E75D2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571500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Build governance once. Reuse across all agents.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37160"/>
            <a:ext cx="11859768" cy="530352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16459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"/>
            <a:ext cx="10881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Memory Decision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0E3E70"/>
                </a:solidFill>
                <a:latin typeface="Aptos"/>
              </a:rPr>
              <a:t>Example: “My daughter prefers lactose-free milk.”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1719072" cy="4526280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9768" y="1572768"/>
            <a:ext cx="347472" cy="347472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5727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993392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E3E70"/>
                </a:solidFill>
                <a:latin typeface="Aptos"/>
              </a:rPr>
              <a:t>Customer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1444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E2328"/>
                </a:solidFill>
                <a:latin typeface="Aptos"/>
              </a:rPr>
              <a:t>My daughter prefers
lactose-free milk.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160520"/>
            <a:ext cx="585216" cy="585216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160520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3657600"/>
            <a:ext cx="201168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58568" y="1417320"/>
            <a:ext cx="1719072" cy="452628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68296" y="1572768"/>
            <a:ext cx="347472" cy="347472"/>
          </a:xfrm>
          <a:prstGeom prst="ellipse">
            <a:avLst/>
          </a:prstGeom>
          <a:solidFill>
            <a:srgbClr val="0E3E70"/>
          </a:solidFill>
          <a:ln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68296" y="15727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8296" y="1993392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E3E70"/>
                </a:solidFill>
                <a:latin typeface="Aptos"/>
              </a:rPr>
              <a:t>Extract 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2743200"/>
            <a:ext cx="1444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E2328"/>
                </a:solidFill>
                <a:latin typeface="Aptos"/>
              </a:rPr>
              <a:t>Dietary preference
Subject: household member</a:t>
            </a:r>
          </a:p>
        </p:txBody>
      </p:sp>
      <p:sp>
        <p:nvSpPr>
          <p:cNvPr id="19" name="Oval 18"/>
          <p:cNvSpPr/>
          <p:nvPr/>
        </p:nvSpPr>
        <p:spPr>
          <a:xfrm>
            <a:off x="2825496" y="4160520"/>
            <a:ext cx="585216" cy="585216"/>
          </a:xfrm>
          <a:prstGeom prst="ellipse">
            <a:avLst/>
          </a:prstGeom>
          <a:solidFill>
            <a:srgbClr val="0E3E70"/>
          </a:solidFill>
          <a:ln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496" y="4160520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95928" y="3657600"/>
            <a:ext cx="201168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97096" y="1417320"/>
            <a:ext cx="1719072" cy="452628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06824" y="1572768"/>
            <a:ext cx="347472" cy="347472"/>
          </a:xfrm>
          <a:prstGeom prst="ellipse">
            <a:avLst/>
          </a:prstGeom>
          <a:solidFill>
            <a:srgbClr val="DE8E18"/>
          </a:solidFill>
          <a:ln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6824" y="15727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6824" y="1993392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E3E70"/>
                </a:solidFill>
                <a:latin typeface="Aptos"/>
              </a:rPr>
              <a:t>Policy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2743200"/>
            <a:ext cx="1444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E2328"/>
                </a:solidFill>
                <a:latin typeface="Aptos"/>
              </a:rPr>
              <a:t>Topic allowed?
Sensitive?
Consent needed?</a:t>
            </a:r>
          </a:p>
        </p:txBody>
      </p:sp>
      <p:sp>
        <p:nvSpPr>
          <p:cNvPr id="27" name="Oval 26"/>
          <p:cNvSpPr/>
          <p:nvPr/>
        </p:nvSpPr>
        <p:spPr>
          <a:xfrm>
            <a:off x="4764024" y="4160520"/>
            <a:ext cx="585216" cy="585216"/>
          </a:xfrm>
          <a:prstGeom prst="ellipse">
            <a:avLst/>
          </a:prstGeom>
          <a:solidFill>
            <a:srgbClr val="DE8E18"/>
          </a:solidFill>
          <a:ln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4160520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34456" y="3657600"/>
            <a:ext cx="201168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135624" y="1417320"/>
            <a:ext cx="1719072" cy="4526280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45352" y="1572768"/>
            <a:ext cx="347472" cy="347472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15727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1993392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E3E70"/>
                </a:solidFill>
                <a:latin typeface="Aptos"/>
              </a:rPr>
              <a:t>Member Confirmation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2743200"/>
            <a:ext cx="1444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E2328"/>
                </a:solidFill>
                <a:latin typeface="Aptos"/>
              </a:rPr>
              <a:t>Confirm the preference
belongs to daughter</a:t>
            </a:r>
          </a:p>
        </p:txBody>
      </p:sp>
      <p:sp>
        <p:nvSpPr>
          <p:cNvPr id="35" name="Oval 34"/>
          <p:cNvSpPr/>
          <p:nvPr/>
        </p:nvSpPr>
        <p:spPr>
          <a:xfrm>
            <a:off x="6702552" y="4160520"/>
            <a:ext cx="585216" cy="585216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02552" y="4160520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72983" y="3657600"/>
            <a:ext cx="201169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74152" y="1417320"/>
            <a:ext cx="1719072" cy="4526280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83879" y="1572768"/>
            <a:ext cx="347472" cy="347472"/>
          </a:xfrm>
          <a:prstGeom prst="ellipse">
            <a:avLst/>
          </a:prstGeom>
          <a:solidFill>
            <a:srgbClr val="189658"/>
          </a:solidFill>
          <a:ln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15727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1993392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E3E70"/>
                </a:solidFill>
                <a:latin typeface="Aptos"/>
              </a:rPr>
              <a:t>Save to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2743200"/>
            <a:ext cx="1444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E2328"/>
                </a:solidFill>
                <a:latin typeface="Aptos"/>
              </a:rPr>
              <a:t>Persist governed
preference</a:t>
            </a:r>
          </a:p>
        </p:txBody>
      </p:sp>
      <p:sp>
        <p:nvSpPr>
          <p:cNvPr id="43" name="Oval 42"/>
          <p:cNvSpPr/>
          <p:nvPr/>
        </p:nvSpPr>
        <p:spPr>
          <a:xfrm>
            <a:off x="8641080" y="4160520"/>
            <a:ext cx="585216" cy="585216"/>
          </a:xfrm>
          <a:prstGeom prst="ellipse">
            <a:avLst/>
          </a:prstGeom>
          <a:solidFill>
            <a:srgbClr val="189658"/>
          </a:solidFill>
          <a:ln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4160520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DB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811512" y="3657600"/>
            <a:ext cx="201168" cy="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012680" y="1417320"/>
            <a:ext cx="1719072" cy="4526280"/>
          </a:xfrm>
          <a:prstGeom prst="roundRect">
            <a:avLst/>
          </a:prstGeom>
          <a:solidFill>
            <a:srgbClr val="EFE9FA"/>
          </a:solidFill>
          <a:ln w="12700"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122407" y="1572768"/>
            <a:ext cx="347472" cy="347472"/>
          </a:xfrm>
          <a:prstGeom prst="ellipse">
            <a:avLst/>
          </a:prstGeom>
          <a:solidFill>
            <a:srgbClr val="7651B4"/>
          </a:solidFill>
          <a:ln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22407" y="1572768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22407" y="1993392"/>
            <a:ext cx="14813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E3E70"/>
                </a:solidFill>
                <a:latin typeface="Aptos"/>
              </a:rPr>
              <a:t>Audit Record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2743200"/>
            <a:ext cx="1444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E2328"/>
                </a:solidFill>
                <a:latin typeface="Aptos"/>
              </a:rPr>
              <a:t>What • Who • When
Policy • Agent • Why</a:t>
            </a:r>
          </a:p>
        </p:txBody>
      </p:sp>
      <p:sp>
        <p:nvSpPr>
          <p:cNvPr id="51" name="Oval 50"/>
          <p:cNvSpPr/>
          <p:nvPr/>
        </p:nvSpPr>
        <p:spPr>
          <a:xfrm>
            <a:off x="10579607" y="4160520"/>
            <a:ext cx="585216" cy="585216"/>
          </a:xfrm>
          <a:prstGeom prst="ellipse">
            <a:avLst/>
          </a:prstGeom>
          <a:solidFill>
            <a:srgbClr val="7651B4"/>
          </a:solidFill>
          <a:ln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79607" y="4160520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514600" y="6144768"/>
            <a:ext cx="7178040" cy="457200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60320" y="6144768"/>
            <a:ext cx="7086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Every memory follows a governed decision path before becoming long-term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37160"/>
            <a:ext cx="11859768" cy="530352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16459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"/>
            <a:ext cx="10881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From Memory Silos to Enterprise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0E3E70"/>
                </a:solidFill>
                <a:latin typeface="Aptos"/>
              </a:rPr>
              <a:t>Move from agent-specific implementations to a centralized, governed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E3E70"/>
                </a:solidFill>
                <a:latin typeface="Aptos"/>
              </a:rPr>
              <a:t>BEFORE — Duplicated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417320" cy="34747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72" y="1901952"/>
            <a:ext cx="1271016" cy="420624"/>
          </a:xfrm>
          <a:prstGeom prst="roundRect">
            <a:avLst/>
          </a:prstGeom>
          <a:solidFill>
            <a:srgbClr val="1E75D2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901952"/>
            <a:ext cx="117957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KSA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146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008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Consent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46557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94106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416552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1783080"/>
            <a:ext cx="1417320" cy="34747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21992" y="1901952"/>
            <a:ext cx="1271016" cy="420624"/>
          </a:xfrm>
          <a:prstGeom prst="roundRect">
            <a:avLst/>
          </a:prstGeom>
          <a:solidFill>
            <a:srgbClr val="189658"/>
          </a:solidFill>
          <a:ln w="12700"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1901952"/>
            <a:ext cx="117957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Pharmacy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25146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13432" y="299008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Consent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346557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3432" y="394106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13432" y="4416552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1783080"/>
            <a:ext cx="1417320" cy="34747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67912" y="1901952"/>
            <a:ext cx="1271016" cy="420624"/>
          </a:xfrm>
          <a:prstGeom prst="roundRect">
            <a:avLst/>
          </a:prstGeom>
          <a:solidFill>
            <a:srgbClr val="7651B4"/>
          </a:solidFill>
          <a:ln w="12700"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2" y="1901952"/>
            <a:ext cx="1179575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Agent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25146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Schema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299008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Consent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59352" y="346557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9352" y="394106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2" y="4416552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E2328"/>
                </a:solidFill>
                <a:latin typeface="Aptos"/>
              </a:rPr>
              <a:t>• Memory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32120"/>
            <a:ext cx="452628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C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4160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CD3A3A"/>
                </a:solidFill>
                <a:latin typeface="Aptos"/>
              </a:rPr>
              <a:t>Duplicated effort • inconsistent governance • higher maintenance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0" y="3520440"/>
            <a:ext cx="960120" cy="0"/>
          </a:xfrm>
          <a:prstGeom prst="line">
            <a:avLst/>
          </a:prstGeom>
          <a:ln w="5080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29400" y="1234440"/>
            <a:ext cx="4983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0E3E70"/>
                </a:solidFill>
                <a:latin typeface="Aptos"/>
              </a:rPr>
              <a:t>AFTER — Standardized Enterprise Platform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1783080"/>
            <a:ext cx="1097280" cy="438912"/>
          </a:xfrm>
          <a:prstGeom prst="roundRect">
            <a:avLst/>
          </a:prstGeom>
          <a:solidFill>
            <a:srgbClr val="1E75D2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1783080"/>
            <a:ext cx="10058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KSA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178040" y="2249424"/>
            <a:ext cx="1920240" cy="448056"/>
          </a:xfrm>
          <a:prstGeom prst="line">
            <a:avLst/>
          </a:prstGeom>
          <a:ln w="1524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863840" y="1783080"/>
            <a:ext cx="1097280" cy="438912"/>
          </a:xfrm>
          <a:prstGeom prst="roundRect">
            <a:avLst/>
          </a:prstGeom>
          <a:solidFill>
            <a:srgbClr val="189658"/>
          </a:solidFill>
          <a:ln w="12700"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09560" y="1783080"/>
            <a:ext cx="10058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Pharmacy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0" y="2249424"/>
            <a:ext cx="685800" cy="448056"/>
          </a:xfrm>
          <a:prstGeom prst="line">
            <a:avLst/>
          </a:prstGeom>
          <a:ln w="1524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98280" y="1783080"/>
            <a:ext cx="1097280" cy="438912"/>
          </a:xfrm>
          <a:prstGeom prst="roundRect">
            <a:avLst/>
          </a:prstGeom>
          <a:solidFill>
            <a:srgbClr val="7651B4"/>
          </a:solidFill>
          <a:ln w="12700"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783080"/>
            <a:ext cx="10058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Meal Planning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9098280" y="2249424"/>
            <a:ext cx="548640" cy="448056"/>
          </a:xfrm>
          <a:prstGeom prst="line">
            <a:avLst/>
          </a:prstGeom>
          <a:ln w="1524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0332720" y="1783080"/>
            <a:ext cx="1097280" cy="438912"/>
          </a:xfrm>
          <a:prstGeom prst="roundRect">
            <a:avLst/>
          </a:prstGeom>
          <a:solidFill>
            <a:srgbClr val="DE8E18"/>
          </a:solidFill>
          <a:ln w="12700"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1783080"/>
            <a:ext cx="10058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Future Agents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9098280" y="2249424"/>
            <a:ext cx="1783080" cy="448056"/>
          </a:xfrm>
          <a:prstGeom prst="line">
            <a:avLst/>
          </a:prstGeom>
          <a:ln w="1524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903720" y="2651760"/>
            <a:ext cx="4617720" cy="2148840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2852928"/>
            <a:ext cx="4160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GEAP Control Plane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2048" y="3456432"/>
            <a:ext cx="3931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Schema   •   Topics   •   Consent   •   Policy
Access   •   Audit   •   Lifecycle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43800" y="5010912"/>
            <a:ext cx="3337560" cy="566928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505663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E3E70"/>
                </a:solidFill>
                <a:latin typeface="Aptos"/>
              </a:rPr>
              <a:t>Vertex AI Memory Bank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17152" y="4800600"/>
            <a:ext cx="0" cy="182880"/>
          </a:xfrm>
          <a:prstGeom prst="line">
            <a:avLst/>
          </a:prstGeom>
          <a:ln w="22860">
            <a:solidFill>
              <a:srgbClr val="1E75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995160" y="5760720"/>
            <a:ext cx="4434840" cy="566928"/>
          </a:xfrm>
          <a:prstGeom prst="roundRect">
            <a:avLst/>
          </a:prstGeom>
          <a:solidFill>
            <a:srgbClr val="E4F6EB"/>
          </a:solidFill>
          <a:ln w="12700"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5472" y="580644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89658"/>
                </a:solidFill>
                <a:latin typeface="Aptos"/>
              </a:rPr>
              <a:t>Agents focus on business logic. Platform handles memory governance.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37160"/>
            <a:ext cx="11859768" cy="530352"/>
          </a:xfrm>
          <a:prstGeom prst="roundRect">
            <a:avLst/>
          </a:prstGeom>
          <a:solidFill>
            <a:srgbClr val="0E3E70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" y="16459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4592"/>
            <a:ext cx="10881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Complete Governed Memory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1384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0E3E70"/>
                </a:solidFill>
                <a:latin typeface="Aptos"/>
              </a:rPr>
              <a:t>End-to-end lifecycle from capture to forget, with governance at every step.</a:t>
            </a:r>
          </a:p>
        </p:txBody>
      </p:sp>
      <p:sp>
        <p:nvSpPr>
          <p:cNvPr id="6" name="Oval 5"/>
          <p:cNvSpPr/>
          <p:nvPr/>
        </p:nvSpPr>
        <p:spPr>
          <a:xfrm>
            <a:off x="5833872" y="1353312"/>
            <a:ext cx="585216" cy="585216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353312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59552" y="731520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Discover</a:t>
            </a:r>
          </a:p>
        </p:txBody>
      </p:sp>
      <p:sp>
        <p:nvSpPr>
          <p:cNvPr id="9" name="Oval 8"/>
          <p:cNvSpPr/>
          <p:nvPr/>
        </p:nvSpPr>
        <p:spPr>
          <a:xfrm>
            <a:off x="7038790" y="1791866"/>
            <a:ext cx="585216" cy="585216"/>
          </a:xfrm>
          <a:prstGeom prst="ellipse">
            <a:avLst/>
          </a:prstGeom>
          <a:solidFill>
            <a:srgbClr val="CD3A3A"/>
          </a:solidFill>
          <a:ln>
            <a:solidFill>
              <a:srgbClr val="CD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8790" y="1791866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2926" y="1336938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Classify</a:t>
            </a:r>
          </a:p>
        </p:txBody>
      </p:sp>
      <p:sp>
        <p:nvSpPr>
          <p:cNvPr id="12" name="Oval 11"/>
          <p:cNvSpPr/>
          <p:nvPr/>
        </p:nvSpPr>
        <p:spPr>
          <a:xfrm>
            <a:off x="7679913" y="2902325"/>
            <a:ext cx="585216" cy="585216"/>
          </a:xfrm>
          <a:prstGeom prst="ellipse">
            <a:avLst/>
          </a:prstGeom>
          <a:solidFill>
            <a:srgbClr val="DE8E18"/>
          </a:solidFill>
          <a:ln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79913" y="2902325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990" y="2869913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Validate</a:t>
            </a:r>
          </a:p>
        </p:txBody>
      </p:sp>
      <p:sp>
        <p:nvSpPr>
          <p:cNvPr id="15" name="Oval 14"/>
          <p:cNvSpPr/>
          <p:nvPr/>
        </p:nvSpPr>
        <p:spPr>
          <a:xfrm>
            <a:off x="7457253" y="4165091"/>
            <a:ext cx="585216" cy="585216"/>
          </a:xfrm>
          <a:prstGeom prst="ellipse">
            <a:avLst/>
          </a:prstGeom>
          <a:solidFill>
            <a:srgbClr val="189658"/>
          </a:solidFill>
          <a:ln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7253" y="4165091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0610" y="4613148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Confirm</a:t>
            </a:r>
          </a:p>
        </p:txBody>
      </p:sp>
      <p:sp>
        <p:nvSpPr>
          <p:cNvPr id="18" name="Oval 17"/>
          <p:cNvSpPr/>
          <p:nvPr/>
        </p:nvSpPr>
        <p:spPr>
          <a:xfrm>
            <a:off x="6474995" y="4989304"/>
            <a:ext cx="585216" cy="585216"/>
          </a:xfrm>
          <a:prstGeom prst="ellipse">
            <a:avLst/>
          </a:prstGeom>
          <a:solidFill>
            <a:srgbClr val="0E3E70"/>
          </a:solidFill>
          <a:ln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4995" y="498930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4615" y="5750963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Store</a:t>
            </a:r>
          </a:p>
        </p:txBody>
      </p:sp>
      <p:sp>
        <p:nvSpPr>
          <p:cNvPr id="21" name="Oval 20"/>
          <p:cNvSpPr/>
          <p:nvPr/>
        </p:nvSpPr>
        <p:spPr>
          <a:xfrm>
            <a:off x="5192748" y="4989304"/>
            <a:ext cx="585216" cy="585216"/>
          </a:xfrm>
          <a:prstGeom prst="ellipse">
            <a:avLst/>
          </a:prstGeom>
          <a:solidFill>
            <a:srgbClr val="DE8E18"/>
          </a:solidFill>
          <a:ln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2748" y="4989304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4488" y="5750963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Use</a:t>
            </a:r>
          </a:p>
        </p:txBody>
      </p:sp>
      <p:sp>
        <p:nvSpPr>
          <p:cNvPr id="24" name="Oval 23"/>
          <p:cNvSpPr/>
          <p:nvPr/>
        </p:nvSpPr>
        <p:spPr>
          <a:xfrm>
            <a:off x="4210490" y="4165091"/>
            <a:ext cx="585216" cy="585216"/>
          </a:xfrm>
          <a:prstGeom prst="ellipse">
            <a:avLst/>
          </a:prstGeom>
          <a:solidFill>
            <a:srgbClr val="189658"/>
          </a:solidFill>
          <a:ln>
            <a:solidFill>
              <a:srgbClr val="18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0490" y="4165091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8493" y="4613148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Update</a:t>
            </a:r>
          </a:p>
        </p:txBody>
      </p:sp>
      <p:sp>
        <p:nvSpPr>
          <p:cNvPr id="27" name="Oval 26"/>
          <p:cNvSpPr/>
          <p:nvPr/>
        </p:nvSpPr>
        <p:spPr>
          <a:xfrm>
            <a:off x="3987830" y="2902325"/>
            <a:ext cx="585216" cy="585216"/>
          </a:xfrm>
          <a:prstGeom prst="ellipse">
            <a:avLst/>
          </a:prstGeom>
          <a:solidFill>
            <a:srgbClr val="7651B4"/>
          </a:solidFill>
          <a:ln>
            <a:solidFill>
              <a:srgbClr val="765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7830" y="2902325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1113" y="2869913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Audit</a:t>
            </a:r>
          </a:p>
        </p:txBody>
      </p:sp>
      <p:sp>
        <p:nvSpPr>
          <p:cNvPr id="30" name="Oval 29"/>
          <p:cNvSpPr/>
          <p:nvPr/>
        </p:nvSpPr>
        <p:spPr>
          <a:xfrm>
            <a:off x="4628953" y="1791866"/>
            <a:ext cx="585216" cy="585216"/>
          </a:xfrm>
          <a:prstGeom prst="ellipse">
            <a:avLst/>
          </a:prstGeom>
          <a:solidFill>
            <a:srgbClr val="1E75D2"/>
          </a:solidFill>
          <a:ln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8953" y="1791866"/>
            <a:ext cx="585216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96177" y="1336938"/>
            <a:ext cx="1143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E3E70"/>
                </a:solidFill>
                <a:latin typeface="Aptos"/>
              </a:rPr>
              <a:t>Forget</a:t>
            </a:r>
          </a:p>
        </p:txBody>
      </p:sp>
      <p:sp>
        <p:nvSpPr>
          <p:cNvPr id="33" name="Oval 32"/>
          <p:cNvSpPr/>
          <p:nvPr/>
        </p:nvSpPr>
        <p:spPr>
          <a:xfrm>
            <a:off x="5166360" y="2560320"/>
            <a:ext cx="1920240" cy="1920240"/>
          </a:xfrm>
          <a:prstGeom prst="ellipse">
            <a:avLst/>
          </a:prstGeom>
          <a:solidFill>
            <a:srgbClr val="0E3E70"/>
          </a:solidFill>
          <a:ln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2898648"/>
            <a:ext cx="1554480" cy="12435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Governed
Enterprise
Memory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1508760"/>
            <a:ext cx="2057400" cy="1508760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627631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75D2"/>
                </a:solidFill>
                <a:latin typeface="Aptos"/>
              </a:rPr>
              <a:t>Privacy &amp;
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" y="2167128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E2328"/>
                </a:solidFill>
                <a:latin typeface="Aptos"/>
              </a:rPr>
              <a:t>Protect customer data and align with Kroger governance.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0040" y="4160520"/>
            <a:ext cx="2057400" cy="1508760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1E75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279392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E75D2"/>
                </a:solidFill>
                <a:latin typeface="Aptos"/>
              </a:rPr>
              <a:t>Performance &amp;
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818888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E2328"/>
                </a:solidFill>
                <a:latin typeface="Aptos"/>
              </a:rPr>
              <a:t>Optimize latency, model calls and infrastructure cost.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84080" y="1508760"/>
            <a:ext cx="2057400" cy="1508760"/>
          </a:xfrm>
          <a:prstGeom prst="roundRect">
            <a:avLst/>
          </a:prstGeom>
          <a:solidFill>
            <a:srgbClr val="FFF4DB"/>
          </a:solidFill>
          <a:ln w="12700">
            <a:solidFill>
              <a:srgbClr val="DE8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21240" y="1627631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DE8E18"/>
                </a:solidFill>
                <a:latin typeface="Aptos"/>
              </a:rPr>
              <a:t>Business
Policy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8672" y="2167128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E2328"/>
                </a:solidFill>
                <a:latin typeface="Aptos"/>
              </a:rPr>
              <a:t>Approved topics, consent and access rules.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160520"/>
            <a:ext cx="2057400" cy="1508760"/>
          </a:xfrm>
          <a:prstGeom prst="roundRect">
            <a:avLst/>
          </a:prstGeom>
          <a:solidFill>
            <a:srgbClr val="E7F2FD"/>
          </a:solidFill>
          <a:ln w="12700">
            <a:solidFill>
              <a:srgbClr val="0E3E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4279392"/>
            <a:ext cx="1783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E3E70"/>
                </a:solidFill>
                <a:latin typeface="Aptos"/>
              </a:rPr>
              <a:t>Audit &amp;
Compliance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4818888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1E2328"/>
                </a:solidFill>
                <a:latin typeface="Aptos"/>
              </a:rPr>
              <a:t>Traceability and explainability for memory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