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c064126694597" /><Relationship Type="http://schemas.openxmlformats.org/officeDocument/2006/relationships/extended-properties" Target="/docProps/app.xml" Id="R05e0d92123a043cf" /><Relationship Type="http://schemas.openxmlformats.org/officeDocument/2006/relationships/officeDocument" Target="/ppt/presentation.xml" Id="R14ed9952d67946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95600c372d4615"/>
  </p:sldMasterIdLst>
  <p:notesMasterIdLst>
    <p:notesMasterId xmlns:r="http://schemas.openxmlformats.org/officeDocument/2006/relationships" r:id="Ref63ce16084a4f8f"/>
  </p:notesMasterIdLst>
  <p:sldIdLst>
    <p:sldId xmlns:r="http://schemas.openxmlformats.org/officeDocument/2006/relationships" id="256" r:id="Re651649672c94d53"/>
    <p:sldId xmlns:r="http://schemas.openxmlformats.org/officeDocument/2006/relationships" id="257" r:id="Rdc66b5f17d954885"/>
    <p:sldId xmlns:r="http://schemas.openxmlformats.org/officeDocument/2006/relationships" id="258" r:id="Ra32917962839483c"/>
    <p:sldId xmlns:r="http://schemas.openxmlformats.org/officeDocument/2006/relationships" id="259" r:id="R23cae7991198463c"/>
    <p:sldId xmlns:r="http://schemas.openxmlformats.org/officeDocument/2006/relationships" id="260" r:id="R328c5dd9bf2e406e"/>
    <p:sldId xmlns:r="http://schemas.openxmlformats.org/officeDocument/2006/relationships" id="261" r:id="R6bf321c5fa3f46c7"/>
    <p:sldId xmlns:r="http://schemas.openxmlformats.org/officeDocument/2006/relationships" id="262" r:id="Rc70b8664944749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71ce2cb7a4848" /><Relationship Type="http://schemas.openxmlformats.org/officeDocument/2006/relationships/slideMaster" Target="/ppt/slideMasters/slideMaster1.xml" Id="Rbd95600c372d4615" /><Relationship Type="http://schemas.openxmlformats.org/officeDocument/2006/relationships/notesMaster" Target="/ppt/notesMasters/notesMaster1.xml" Id="Ref63ce16084a4f8f" /><Relationship Type="http://schemas.openxmlformats.org/officeDocument/2006/relationships/presProps" Target="/ppt/presProps.xml" Id="R972a6fa722f04b88" /><Relationship Type="http://schemas.openxmlformats.org/officeDocument/2006/relationships/tableStyles" Target="/ppt/tableStyles.xml" Id="R60234078933440d4" /><Relationship Type="http://schemas.openxmlformats.org/officeDocument/2006/relationships/slide" Target="/ppt/slides/slide1.xml" Id="Re651649672c94d53" /><Relationship Type="http://schemas.openxmlformats.org/officeDocument/2006/relationships/slide" Target="/ppt/slides/slide2.xml" Id="Rdc66b5f17d954885" /><Relationship Type="http://schemas.openxmlformats.org/officeDocument/2006/relationships/slide" Target="/ppt/slides/slide3.xml" Id="Ra32917962839483c" /><Relationship Type="http://schemas.openxmlformats.org/officeDocument/2006/relationships/slide" Target="/ppt/slides/slide4.xml" Id="R23cae7991198463c" /><Relationship Type="http://schemas.openxmlformats.org/officeDocument/2006/relationships/slide" Target="/ppt/slides/slide5.xml" Id="R328c5dd9bf2e406e" /><Relationship Type="http://schemas.openxmlformats.org/officeDocument/2006/relationships/slide" Target="/ppt/slides/slide6.xml" Id="R6bf321c5fa3f46c7" /><Relationship Type="http://schemas.openxmlformats.org/officeDocument/2006/relationships/slide" Target="/ppt/slides/slide7.xml" Id="Rc70b8664944749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07ea426934c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a015f6ea134d67" /><Relationship Type="http://schemas.openxmlformats.org/officeDocument/2006/relationships/notesMaster" Target="/ppt/notesMasters/notesMaster1.xml" Id="R317ffdc91ba0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ebd2394e14f97" /><Relationship Type="http://schemas.openxmlformats.org/officeDocument/2006/relationships/notesMaster" Target="/ppt/notesMasters/notesMaster1.xml" Id="Rc38b12b9360e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15d3537b64753" /><Relationship Type="http://schemas.openxmlformats.org/officeDocument/2006/relationships/notesMaster" Target="/ppt/notesMasters/notesMaster1.xml" Id="R4033ccd1506b4d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5c97f24a944207" /><Relationship Type="http://schemas.openxmlformats.org/officeDocument/2006/relationships/notesMaster" Target="/ppt/notesMasters/notesMaster1.xml" Id="Rcd220c730c2441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dbd850f1e42e8" /><Relationship Type="http://schemas.openxmlformats.org/officeDocument/2006/relationships/notesMaster" Target="/ppt/notesMasters/notesMaster1.xml" Id="Rc43ec18822cd45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7148cf15964fe0" /><Relationship Type="http://schemas.openxmlformats.org/officeDocument/2006/relationships/notesMaster" Target="/ppt/notesMasters/notesMaster1.xml" Id="R72df9aed696b4c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dcaac72cb47ae" /><Relationship Type="http://schemas.openxmlformats.org/officeDocument/2006/relationships/notesMaster" Target="/ppt/notesMasters/notesMaster1.xml" Id="Rabbc7ef288104e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Control Plane as a shared enterprise platform layer—not merely an administrative UI.</a:t>
            </a:r>
          </a:p>
          <a:p xmlns:a="http://schemas.openxmlformats.org/drawingml/2006/main">
            <a:r>
              <a:t>The central distinction is that GEAP supplies managed primitives while Kroger adds enterprise standards, workflows, and orchestration.</a:t>
            </a:r>
          </a:p>
          <a:p xmlns:a="http://schemas.openxmlformats.org/drawingml/2006/main">
            <a:r>
              <a:t>Agent teams should focus on prompts, domain workflows, tools, and business behavior.</a:t>
            </a:r>
          </a:p>
          <a:p xmlns:a="http://schemas.openxmlformats.org/drawingml/2006/main">
            <a:r>
              <a:t>The platform owns repeatable capabilities that every agent otherwise rebuilds.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side shows the hidden tax: each agent team repeatedly integrates platform concerns.</a:t>
            </a:r>
          </a:p>
          <a:p xmlns:a="http://schemas.openxmlformats.org/drawingml/2006/main">
            <a:r>
              <a:t>The target model centralizes common capabilities so agent teams own only differentiated domain behavior.</a:t>
            </a:r>
          </a:p>
          <a:p xmlns:a="http://schemas.openxmlformats.org/drawingml/2006/main">
            <a:r>
              <a:t>Standardization improves security and operability while reducing duplicated engineering.</a:t>
            </a:r>
          </a:p>
          <a:p xmlns:a="http://schemas.openxmlformats.org/drawingml/2006/main">
            <a:r>
              <a:t>The Control Plane creates leverage: one platform enhancement benefits every consuming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top layer remains decentralized: business teams build agent behavior.</a:t>
            </a:r>
          </a:p>
          <a:p xmlns:a="http://schemas.openxmlformats.org/drawingml/2006/main">
            <a:r>
              <a:t>The middle layer defines enterprise desired state, standards, approvals, and orchestration.</a:t>
            </a:r>
          </a:p>
          <a:p xmlns:a="http://schemas.openxmlformats.org/drawingml/2006/main">
            <a:r>
              <a:t>The bottom layer remains GEAP-managed, including runtime, memory, evaluation, identity, and operations services.</a:t>
            </a:r>
          </a:p>
          <a:p xmlns:a="http://schemas.openxmlformats.org/drawingml/2006/main">
            <a:r>
              <a:t>Runtime enforcement should occur in managed services or lightweight shared components—not synchronously through the Control Panel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 Bank supplies the managed storage and retrieval foundation.</a:t>
            </a:r>
          </a:p>
          <a:p xmlns:a="http://schemas.openxmlformats.org/drawingml/2006/main">
            <a:r>
              <a:t>The Control Plane adds enterprise domains, scopes, schemas, sensitivity, access, and resolution rules.</a:t>
            </a:r>
          </a:p>
          <a:p xmlns:a="http://schemas.openxmlformats.org/drawingml/2006/main">
            <a:r>
              <a:t>Priority can be standardized across explicit API input, session context, and long-term memory.</a:t>
            </a:r>
          </a:p>
          <a:p xmlns:a="http://schemas.openxmlformats.org/drawingml/2006/main">
            <a:r>
              <a:t>A common enterprise memory contract prevents each agent from inventing incompatible behavior.</a:t>
            </a:r>
          </a:p>
          <a:p xmlns:a="http://schemas.openxmlformats.org/drawingml/2006/main">
            <a:r>
              <a:t>Governance can be applied at domain, schema, and attribute level.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 emit a common telemetry and evaluation envelope once.</a:t>
            </a:r>
          </a:p>
          <a:p xmlns:a="http://schemas.openxmlformats.org/drawingml/2006/main">
            <a:r>
              <a:t>The shared layer applies privacy controls before data leaves the platform boundary.</a:t>
            </a:r>
          </a:p>
          <a:p xmlns:a="http://schemas.openxmlformats.org/drawingml/2006/main">
            <a:r>
              <a:t>Enterprise metadata and evaluation taxonomy are normalized centrally.</a:t>
            </a:r>
          </a:p>
          <a:p xmlns:a="http://schemas.openxmlformats.org/drawingml/2006/main">
            <a:r>
              <a:t>Routing to Google Cloud, LangSmith, or other platforms is policy-driven and can evolve without agent-code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 the platform into six memorable capability pillars rather than a long feature list.</a:t>
            </a:r>
          </a:p>
          <a:p xmlns:a="http://schemas.openxmlformats.org/drawingml/2006/main">
            <a:r>
              <a:t>The pillars cover the full agent lifecycle—from discovery and secure onboarding through operation and compliance.</a:t>
            </a:r>
          </a:p>
          <a:p xmlns:a="http://schemas.openxmlformats.org/drawingml/2006/main">
            <a:r>
              <a:t>Promotion gates can validate dependencies, policies, evaluation thresholds, and required approvals.</a:t>
            </a:r>
          </a:p>
          <a:p xmlns:a="http://schemas.openxmlformats.org/drawingml/2006/main">
            <a:r>
              <a:t>The same lifecycle can support agents deployed to Agent Runtime, Cloud Run, or another approved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platform leverage rather than individual features.</a:t>
            </a:r>
          </a:p>
          <a:p xmlns:a="http://schemas.openxmlformats.org/drawingml/2006/main">
            <a:r>
              <a:t>Every shared service improves time to delivery and makes controls more consistent.</a:t>
            </a:r>
          </a:p>
          <a:p xmlns:a="http://schemas.openxmlformats.org/drawingml/2006/main">
            <a:r>
              <a:t>Central ownership reduces support cost and improves auditability across organizations, projects, agents, and versions.</a:t>
            </a:r>
          </a:p>
          <a:p xmlns:a="http://schemas.openxmlformats.org/drawingml/2006/main">
            <a:r>
              <a:t>The architectural goal is simple: agent teams build business intelligence; the platform provides everything around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b9513d3e442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e4787b45a4b07" /><Relationship Type="http://schemas.openxmlformats.org/officeDocument/2006/relationships/slideLayout" Target="/ppt/slideLayouts/slideLayout1.xml" Id="Rfd41b48d335d4d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41b48d335d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fa10619624ebb" /><Relationship Type="http://schemas.openxmlformats.org/officeDocument/2006/relationships/notesSlide" Target="/ppt/notesSlides/notesSlide1.xml" Id="R014dde8dc689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551009bb94803" /><Relationship Type="http://schemas.openxmlformats.org/officeDocument/2006/relationships/notesSlide" Target="/ppt/notesSlides/notesSlide2.xml" Id="Rc3f9c205d02f4f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4c7677a114ae9" /><Relationship Type="http://schemas.openxmlformats.org/officeDocument/2006/relationships/notesSlide" Target="/ppt/notesSlides/notesSlide3.xml" Id="Rec8b2141bfac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44941aa24cbc" /><Relationship Type="http://schemas.openxmlformats.org/officeDocument/2006/relationships/notesSlide" Target="/ppt/notesSlides/notesSlide4.xml" Id="R6d48475cf18e4f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1736c9c6f4a37" /><Relationship Type="http://schemas.openxmlformats.org/officeDocument/2006/relationships/notesSlide" Target="/ppt/notesSlides/notesSlide5.xml" Id="R996b0a85e4ea41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972626117418a" /><Relationship Type="http://schemas.openxmlformats.org/officeDocument/2006/relationships/notesSlide" Target="/ppt/notesSlides/notesSlide6.xml" Id="R4d900f4f613847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f19e47ec84c45" /><Relationship Type="http://schemas.openxmlformats.org/officeDocument/2006/relationships/notesSlide" Target="/ppt/notesSlides/notesSlide7.xml" Id="Rd65c93aa56e0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4160E-57C2-4672-BD9F-6AADE958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755D7-9316-40BA-A971-1D37E6A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-285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74D5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27262-BC28-4EA7-B052-E6F8141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247650"/>
            <a:ext cx="2171700" cy="2171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8F743-4AB2-499E-ABEF-9258CB6B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752475"/>
            <a:ext cx="163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CONTROL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83415-8172-47F4-A4D5-F32E3E93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2905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A3F16-42E7-498E-8122-CD5C66D2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3314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3477B-F973-4F5D-8CF7-05A4171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39827-E947-4AC5-B557-5F71A11E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000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B5A0E-5F8C-48FA-A541-F404F046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2300" y="4476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2B709-8CA4-4E9A-A83D-28488C5F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91731">
            <a:off x="8382000" y="3238500"/>
            <a:ext cx="192027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F8FCD-B639-4DF7-ACDD-B821AA73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46290">
            <a:off x="10363200" y="3600450"/>
            <a:ext cx="12193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AFCEE-03D9-40F6-9B5D-A57D634C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10857">
            <a:off x="7524750" y="4648200"/>
            <a:ext cx="313349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7ED75-3D6C-4972-BEB7-402F08C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382031">
            <a:off x="9572625" y="5191125"/>
            <a:ext cx="293773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82A9E-9602-46DD-A6A0-91D24CD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06018">
            <a:off x="11096625" y="4762500"/>
            <a:ext cx="238553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26177-90F6-4EB0-9158-23D98D88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9600"/>
            <a:ext cx="2686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931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TECHNICAL MANAGEMENT DISCUSSION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F9A9B-7C18-4808-AC99-5C950DBD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5730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GEAP Control Plane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3C5AD-8386-40B8-BEA9-3B44F7ED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5146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A shared enterprise layer for Gemini Enterprise Agent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63FC3-9D42-42B3-825D-5B99F11B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714750"/>
            <a:ext cx="63627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ACBE8-18D7-444C-9B64-5641138D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924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GEAP provides the managed AI services.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DA062-A03F-4EA2-B6E9-B369A95A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24350"/>
            <a:ext cx="567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The Control Plane turns them into an enterprise-ready agent platform.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B6F1B-D3B9-41B0-BBF2-7A8B0349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8102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Centralize the platform. Federate the business logic.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3DDC9-016E-4C37-9468-D4566C1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8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Kroger AI Platform</a:t>
            </a:r>
          </a:p>
        </p:txBody>
      </p:sp>
    </p:spTree>
    <p:extLst>
      <p:ext uri="{BB962C8B-B14F-4D97-AF65-F5344CB8AC3E}">
        <p14:creationId xmlns:p14="http://schemas.microsoft.com/office/powerpoint/2010/main" val="695864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995D1B-23FB-4DD0-B461-0F5A397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38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B356D-DE6A-4E4C-A8A6-63E2E08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rPr>
              <a:t>Platform code is being rebuilt around every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F59C4-DB5C-4335-B0B4-5620362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57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The repeated work is enterprise infrastructure—not differentiated agent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87F86-8682-41D7-9637-F8BAD86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0F00-315F-466E-B9D6-AF6334DA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231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E2231A"/>
                </a:solidFill>
                <a:latin typeface="Nimbus Sans"/>
                <a:ea typeface="Nimbus Sans"/>
                <a:cs typeface="Nimbus Sans"/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2682D-9385-4C1F-B813-488EDA6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95500"/>
            <a:ext cx="5048250" cy="369570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592ED-E4C7-4F4D-9D54-54B2E33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00300"/>
            <a:ext cx="1352550" cy="251460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69999-6D7A-4E6E-B098-2D967A5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2571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067B-4C93-47DA-A19F-F754A4D1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2194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Business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D9ACE-0C15-469D-87BF-1429DF8A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59092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231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E2231A"/>
                </a:solidFill>
                <a:latin typeface="Nimbus Sans"/>
                <a:ea typeface="Nimbus Sans"/>
                <a:cs typeface="Nimbus Sans"/>
              </a:rPr>
              <a:t>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D44C1-1747-4DAC-BC6A-BC32657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829050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0187B-F79F-41B7-B9CF-62D28507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06717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143A2-EE5C-450C-9E74-B1890E7A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305300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F4C90-E122-4964-9EFE-3698544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54342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F68E4-67DF-4D98-91C9-787938DB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400300"/>
            <a:ext cx="1352550" cy="251460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E11FE-2389-42A2-B170-CEC25DD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2571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7A22F-7832-4195-B93D-51AC64B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32194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Business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DF6F7-0B8B-432C-B8FD-8229A6B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59092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231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E2231A"/>
                </a:solidFill>
                <a:latin typeface="Nimbus Sans"/>
                <a:ea typeface="Nimbus Sans"/>
                <a:cs typeface="Nimbus Sans"/>
              </a:rPr>
              <a:t>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F5537-E895-4DE4-8F76-7572622D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829050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9FDD5-2B43-4981-A0BA-9113016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06717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D373A-FACB-4ED1-9DF1-F6124F2C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305300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Telemetry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1BE5B-9AA1-4617-BAAC-1AA71E9B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54342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Deploy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7DC54-0EAC-4376-AFBA-613EEB85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2400300"/>
            <a:ext cx="1352550" cy="251460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65BB9-3724-4C93-BFE2-130D1E39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2571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E70CC-7D15-4396-BF77-3EF0CD9C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32194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Business logic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A5544-040C-4672-A805-D7B8993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359092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231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E2231A"/>
                </a:solidFill>
                <a:latin typeface="Nimbus Sans"/>
                <a:ea typeface="Nimbus Sans"/>
                <a:cs typeface="Nimbus Sans"/>
              </a:rPr>
              <a:t>Memory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3FE5F-F484-40B1-8D36-30D861D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3829050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Security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CC762-2624-4DCC-B196-A17C925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406717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B4D14-972E-4459-B860-D2A9ECED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4305300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Telemetry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7B3F8-6875-4057-AB60-EC24F090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4543425"/>
            <a:ext cx="1009650" cy="1905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1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Deploy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0C1C4-F0EC-45CF-BEAC-0931028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2197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231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E2231A"/>
                </a:solidFill>
                <a:latin typeface="Nimbus Sans"/>
                <a:ea typeface="Nimbus Sans"/>
                <a:cs typeface="Nimbus Sans"/>
              </a:rPr>
              <a:t>Different implementations • inconsistent controls • higher support burden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E0B69-68AC-43C7-A195-0ACCB5FD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448050"/>
            <a:ext cx="6477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CD48A-4E92-4B10-8675-21A31416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A87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2AA876"/>
                </a:solidFill>
                <a:latin typeface="Nimbus Sans"/>
                <a:ea typeface="Nimbus Sans"/>
                <a:cs typeface="Nimbus Sans"/>
              </a:rPr>
              <a:t>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D8BA9-09FD-4F30-A71F-ABD7FB4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095500"/>
            <a:ext cx="4724400" cy="369570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49FDF-DA70-4D85-B87F-0C6DAE92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381250"/>
            <a:ext cx="1143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0C357-5AA0-45A1-8B38-9A10E2F2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476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Agent 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A3D785-0A9D-4DEA-BC2D-B9FB6A5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724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Domain logic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61E602-15A5-4290-A0A5-4AC507AA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2381250"/>
            <a:ext cx="1143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A131D-7612-478A-838F-D08854F9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2476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Agent 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CC7202-9AD8-4C13-BBD2-C81DB73C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2724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Domain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BAB3F6-CCAF-49C9-A8C0-E1C5B221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381250"/>
            <a:ext cx="1143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D036CA-B4BF-48E6-A111-F05DA950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476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Agent 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ABB591-E1FA-46CD-B369-19B6C2B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724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Domain logic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3B33F0-FF80-4D1C-AF51-4B25E65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53350" y="30861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A17FEE-430F-4692-8DCD-B2EF0558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34475" y="30861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5C7BC4-82A6-4FE3-870E-974BB5E4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15600" y="30861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8FCA39-E7C7-46D4-A4EB-E5A936D1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3467100"/>
            <a:ext cx="41148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96A987-0EE0-464D-916B-9168D50F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619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ENTERPRISE CONTROL PLANE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B5162D-301D-4CD8-A1BD-B34F638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981450"/>
            <a:ext cx="365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Memory  •  Security  •  Evaluation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Observability  •  Lifecycle  •  Governance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0C7DE6-49F0-4238-AA91-FCB18AA6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791075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E7451B-9A1C-4EE3-A477-2D8FA11B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191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GEAP managed AI services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B51654-6B2E-4EF9-BA6E-729F0138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5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1163E3-D9DF-4EE6-A55B-0621478E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KROGER • GEAP CONTROL PLANE</a:t>
            </a:r>
          </a:p>
        </p:txBody>
      </p:sp>
    </p:spTree>
    <p:extLst>
      <p:ext uri="{BB962C8B-B14F-4D97-AF65-F5344CB8AC3E}">
        <p14:creationId xmlns:p14="http://schemas.microsoft.com/office/powerpoint/2010/main" val="1416299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561DB-1075-4193-A0D8-5A72E674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38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BA57E-597A-4CA1-B4A4-915AD0F3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rPr>
              <a:t>Three layers, with a clear separation of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BF23C-4B09-4AA3-BF3A-B9C88CEE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57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The Control Plane composes GEAP capabilities; it does not replace them or become the request-path bottleneck.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B89A5-3F67-4825-8062-7759FAD5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8533B-5A4D-4338-B39E-F576B6E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109728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A5DFB-C563-49C0-BCDB-4A15196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133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DA4B4-EA02-4957-8B10-A2FB9C1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0383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BUSINESS / AGENT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029FD-B9B2-4E12-94C7-A698AC53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3241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Prompts • workflows • domain tools • agent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A6346-D955-44B9-AC5B-58B16A0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143250"/>
            <a:ext cx="1097280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6482-89ED-405F-B5AF-6959869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771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66729-27A9-47E7-B3BB-C2DF24A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3314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ENTERPRISE CONTROL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86756-B827-41BF-827D-7EAB3CD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36004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Kroger standards, policy, orchestration and shared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9466B-D7DD-45F0-9770-396AC7DF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0"/>
            <a:ext cx="109728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0EA11-8373-4342-83DC-FD13E7B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410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9333B-602B-4E4F-869D-02928BCF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53149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GEAP MANAGED PLATFORM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10E75-7F31-484E-B7BE-7B1A970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56007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Gemini • Agent Runtime / Cloud Run • Memory Bank • Evaluation • IAM •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49CF8-086B-4EAF-9221-9D5BF5AA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1002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Memory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FA306-17BB-4AA8-A5D7-8312B30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01002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Security &amp;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C09FB-B413-4F59-8FEA-7D8AF25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002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B032D-3E56-4284-9C8F-AEFB3D03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401002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Observability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BA725-D46F-4BF9-A22D-616583B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41007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Tools &amp; connectors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B4E70-5523-44D4-BD64-B07A8C8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41007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Lifecycle &amp; promotion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B584E-227E-4E48-8902-896E6EF8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41007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Cost &amp;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EBB27-F3A9-4E45-ABF3-216F62B2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441007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Configuration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A4962-AE1C-4199-814B-22E694F1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2171700"/>
            <a:ext cx="25336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4D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3BAAD-820F-4E6D-B71E-DBBBD477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23050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CONTROL, NOT BOTTLENECK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D20CB-C92D-4E40-A196-A0598C7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25336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Policies configure runtime services; traffic need not traverse the UI/API.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370B1-F76C-4645-A01B-DB2E997C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5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E0FCB-2EE5-46FF-B792-FAF19A64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KROGER • GEAP CONTROL PLANE</a:t>
            </a:r>
          </a:p>
        </p:txBody>
      </p:sp>
    </p:spTree>
    <p:extLst>
      <p:ext uri="{BB962C8B-B14F-4D97-AF65-F5344CB8AC3E}">
        <p14:creationId xmlns:p14="http://schemas.microsoft.com/office/powerpoint/2010/main" val="304829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1C1591-EB0B-4321-9932-D70EA03C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3850"/>
            <a:ext cx="2428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SHARED CAPABILITY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AB1F1-2CA7-44F1-849B-33AB31C8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885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rPr>
              <a:t>Google stores memory; Kroger defines the enterprise memory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BE24C-8F79-4D93-ACF3-38B7837B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57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Agents consume a governed memory contract instead of implementing memory rules independently.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A5279-F103-4CD3-BA36-FCCCF3B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ACEA9-6102-4A4D-8F4E-74015C2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24050"/>
            <a:ext cx="2400300" cy="38862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D84D8-32E6-4C24-9196-BA55BEA3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190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FED2B-583F-4D0C-A813-A2EDDF6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0670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B7007-BA2E-4460-9CE3-F225276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486150"/>
            <a:ext cx="1752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Business prompt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Session context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Explicit preferences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5E30D-4ADF-404B-B397-D2458D7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8577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AA876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AA876"/>
                </a:solidFill>
                <a:latin typeface="Nimbus Sans"/>
                <a:ea typeface="Nimbus Sans"/>
                <a:cs typeface="Nimbus Sans"/>
              </a:rPr>
              <a:t>Simplified enterprise</a:t>
            </a:r>
          </a:p>
          <a:p xmlns:a="http://schemas.openxmlformats.org/drawingml/2006/main">
            <a:pPr algn="ctr">
              <a:defRPr sz="1275" b="1">
                <a:solidFill>
                  <a:srgbClr val="2AA876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AA876"/>
                </a:solidFill>
                <a:latin typeface="Nimbus Sans"/>
                <a:ea typeface="Nimbus Sans"/>
                <a:cs typeface="Nimbus Sans"/>
              </a:rPr>
              <a:t>memory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69FA2-213F-4576-BAE9-49A10C2A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524250"/>
            <a:ext cx="6286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ADC63-1469-414A-90C3-4EB4D829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1809750"/>
            <a:ext cx="4400550" cy="4114800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B4B0E-82E0-419C-9583-EAB2C5BA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05740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ENTERPRISE MEMORY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00DC2-006D-4133-8169-8C9E7F74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6098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0FA0D-00B0-415E-8A0D-7CA5559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7051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6B1FE-51F0-4C22-92E3-06310934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9527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Ownership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A9167-D5AB-4869-ABE6-0C982C21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098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B477D-2D9F-4EAA-9506-2632849C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7051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FA57C-495A-4FE4-8E37-034981E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9527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User / org /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27772-485B-43DC-A663-DC935B06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4861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DB6AC-90F9-4361-BE19-FA0B5E09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581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76503-DF45-4A24-AD60-C3F6A01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8290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Allowed attributes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53961-300B-430A-8C02-61833F6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4861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E72AD-B27D-4389-939D-6B9EB39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581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Sensitivity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D5C98-B792-4473-A021-280E6BC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8290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Handling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DB9E1-957F-42D7-AF60-D177C1FF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3624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7BDC0-DFE8-498F-AC6F-4945E61E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4577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D5E0E-9E78-4A0D-9E0B-EE5E774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7053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Source precedence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DF7C0-5DA2-45CA-BF5A-E55FDF53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3624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CE19B-E4B4-4782-AC51-5F37191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4577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D7A028-59C1-4A54-800D-681398DF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7053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Read / write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731F7B-3D7E-4B76-9C16-CE65DD0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5410200"/>
            <a:ext cx="3219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Explicit API  &gt;  Session  &gt;  Long-term memory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57B9D-BFE3-4F87-8F26-466F5642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3524250"/>
            <a:ext cx="6286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D731BA-8293-439C-ABC4-C677C1B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1924050"/>
            <a:ext cx="2400300" cy="38862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CA273-6991-4EA7-ABC7-DB861847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2190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01431-11F3-447E-91B2-538D5BC5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067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A87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AA876"/>
                </a:solidFill>
                <a:latin typeface="Nimbus Sans"/>
                <a:ea typeface="Nimbus Sans"/>
                <a:cs typeface="Nimbus Sans"/>
              </a:rPr>
              <a:t>GEAP MEMORY BANK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B75813-F764-4559-B0D4-0D0900B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524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Generate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A5B022-8214-46BE-9F1B-3DDBCB8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8957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Store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C42E5-3E38-48C5-80B0-D578A141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267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A87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2AA876"/>
                </a:solidFill>
                <a:latin typeface="Nimbus Sans"/>
                <a:ea typeface="Nimbus Sans"/>
                <a:cs typeface="Nimbus Sans"/>
              </a:rPr>
              <a:t>Retrieve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FF3509-4FF4-4D82-B569-77563720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6386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Consolidate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6CA39D-3200-4127-B55F-F57B1198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010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Expire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2422D-F576-4296-B099-CC4A26D6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5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3EB288-D7E6-44BA-89D0-DA11D904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KROGER • GEAP CONTROL PLANE</a:t>
            </a:r>
          </a:p>
        </p:txBody>
      </p:sp>
    </p:spTree>
    <p:extLst>
      <p:ext uri="{BB962C8B-B14F-4D97-AF65-F5344CB8AC3E}">
        <p14:creationId xmlns:p14="http://schemas.microsoft.com/office/powerpoint/2010/main" val="263481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06414D-568D-4D2F-894C-D5C5ADC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3850"/>
            <a:ext cx="2428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SHARED CAPABILITY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0B09B-C003-45F3-B8A4-45BFC84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rPr>
              <a:t>Emit once. Govern centrally. Route by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760BE-3514-4789-9184-EC1D959E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57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Evaluation and telemetry integrations become a platform concern, not agent-specific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F028-CBA7-43C9-8955-FF828A80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EE2D1-3330-46DA-B842-329143B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76450"/>
            <a:ext cx="2419350" cy="3695700"/>
          </a:xfrm>
          <a:prstGeom xmlns:a="http://schemas.openxmlformats.org/drawingml/2006/main" prst="roundRect">
            <a:avLst>
              <a:gd name="adj" fmla="val 7874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AA452-226A-4F4C-A19E-EE37AD29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860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AGENT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7CA7-7948-4F7A-B96F-20CD7083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43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10FF6-7D62-4A9A-A211-A0A0AE1F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771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7A5C4-11DF-4150-A1E5-5EFB9E9B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3A2C3-71B5-42C1-AA89-6608B7B4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3051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9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Prompts / responses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96B05-84E4-485C-B5FB-696EE45E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F2BEC-D1FD-47EB-B110-9339A698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8385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Evaluation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E18CB-E75F-4061-BA49-F2C826A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43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C75A5-79EE-475C-9955-55C7BA4E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3719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Tool activity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2A960-44C2-4DE1-8A73-9B07BA6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55988-ADD3-44C3-A662-EB88366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9053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Runtime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FC8DB-2E1C-427B-9792-1F7F7A9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3619500"/>
            <a:ext cx="590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40577-95A6-4F83-8184-E2D8CBB8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1866900"/>
            <a:ext cx="4286250" cy="4114800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74D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4A151-CBC1-42E8-9309-F8F4541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09550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ENTERPRISE TELEMETRY &amp; EVALUATION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0C2EC-B378-4EEE-B82E-557C7D79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2724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EB8D6-711B-4CD3-A748-BA040B3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7146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Privacy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53370-5BC5-4885-A8B8-834C133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9432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PII / sensitive-data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A2923-C7B6-40B6-8CB7-0B92F8CC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419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EC935-7D42-4112-8EA7-ED4E8FC0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4099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Enrichment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5218E-CE49-4A46-8D5A-4CE375C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6385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Org • project • agent • version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21D26-3D49-4A54-854C-2EEE9777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114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8DB957-FD5C-49AC-AF6B-FF38144D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1052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Standardization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BBA5E-0507-4060-BC37-165A2337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3338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Common evaluation taxonomy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3A7F7-C80A-43ED-946F-960AEE7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810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29CC2-37F8-4A50-BF62-625E54A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8006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Routing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8B1521-1125-4082-BCAC-A3E09C5C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50292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Destination and retention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64629-0456-4F31-BB5B-C443205D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5562600"/>
            <a:ext cx="3181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925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Change destinations without changing agent 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9650A5-D619-4319-B817-39B82FC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619500"/>
            <a:ext cx="590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DA6E71-304E-4479-B220-6D5CED07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190750"/>
            <a:ext cx="24574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D6EA4-137B-49CE-B86B-C2FCEE30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7BC0E-1483-4DEF-93AE-E630464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24193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Google Cloud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Observability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0A4AA-3D5A-4B72-8342-674D5C73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390900"/>
            <a:ext cx="24574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844ED2-51AE-4B6F-8562-B019BE7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3600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4785DC-D9B7-4685-9042-AFF478C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36195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LangSmith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6A4816-FBFF-423A-BA2A-7FE4F335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591050"/>
            <a:ext cx="24574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2734D7-5DB1-46E1-BC21-AE749AA0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4800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4CB824-A4DB-4D39-9828-724CBB4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48196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Enterprise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analytics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D3B614-A9FC-4FB6-B487-906D09C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5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D2564-3932-4F21-95D6-E96564BA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KROGER • GEAP CONTROL PLANE</a:t>
            </a:r>
          </a:p>
        </p:txBody>
      </p:sp>
    </p:spTree>
    <p:extLst>
      <p:ext uri="{BB962C8B-B14F-4D97-AF65-F5344CB8AC3E}">
        <p14:creationId xmlns:p14="http://schemas.microsoft.com/office/powerpoint/2010/main" val="1626482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C3EA6B-DA1F-469F-86F5-809F8A2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38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0B5CAD"/>
                </a:solidFill>
                <a:latin typeface="Nimbus Sans"/>
                <a:ea typeface="Nimbus Sans"/>
                <a:cs typeface="Nimbus Sans"/>
              </a:rPr>
              <a:t>PLATFORM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37B13-2411-4647-BC0A-1A0B9139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071B33"/>
                </a:solidFill>
                <a:latin typeface="Nimbus Sans"/>
                <a:ea typeface="Nimbus Sans"/>
                <a:cs typeface="Nimbus Sans"/>
              </a:rPr>
              <a:t>Six capability pillars create a repeatable enterprise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A6765-DA61-4B67-B8A6-35A12078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57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The platform product is broader than a portal: it combines discoverability, governance, operations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4DF50-D727-4AAF-A660-EBC88F8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727FA-074A-459A-B30A-CCE0CFE4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4290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09D2C-24B7-470E-8E64-7C31AEA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076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C0EA3-2DA2-4289-A159-C3F819CD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076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BUILD &amp; 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20AC0-69F7-44FF-B337-ED6E5FFE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4479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Agent onboarding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Registry &amp; templates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Tool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8ED13-3EBA-4B6E-BB8F-0BB512B5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05175"/>
            <a:ext cx="3429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44359-67CF-4165-BEA2-11B36FB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1866900"/>
            <a:ext cx="34290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9BC17-A22F-40BB-8993-CC945C6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076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26F12-222B-4A2B-A242-2B79A9E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076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SECURE &amp; GOVERN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22B80-F45D-4120-B33C-BEEC89A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4479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Identity &amp; secrets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Guardrails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Approvals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C7AB1-07C6-45E1-895E-8D00650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305175"/>
            <a:ext cx="3429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B12B6-23C8-41BF-9277-24B3781C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866900"/>
            <a:ext cx="34290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93186-7468-4EB3-9DD9-552C4933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076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399CA-F308-4729-995D-A8F3B86A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076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CONTEXT &amp;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82CE8-8ACE-4005-8A78-38DDD6F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4479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Domains &amp; schemas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Profiles &amp; topics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Resolution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6F08A-D9FF-4903-91D3-5EE8EB0E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305175"/>
            <a:ext cx="3429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1A681-E8F6-457C-BD4B-4BC3E61D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57600"/>
            <a:ext cx="34290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446B8-1FC3-4210-8C11-AB25060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867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F870D-C1B2-4D10-BC1C-6F1A8DF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8671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QUALITY &amp; 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0AB3E-A1DF-4E3E-BEF8-C179BCB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2386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Evaluation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Tracing &amp; metrics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Privacy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81775-F69E-44C7-A3E3-C30BE47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095875"/>
            <a:ext cx="3429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57CA1-2834-4117-BEB5-B6FEFBBA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657600"/>
            <a:ext cx="34290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F7E52-D352-4865-8535-E9909807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867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7D0F25-21F7-4BB2-AD09-F9A986B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38671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DEPLOY &amp; OPERATE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E4E15-9FE1-4444-BEEF-43304B00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42386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Versioning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Promotion &amp; gates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Retirement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3A442-429D-4E56-B24E-A1F2A60D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095875"/>
            <a:ext cx="3429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D477BC-7181-4D61-9150-1579DE5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657600"/>
            <a:ext cx="34290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A2138-95D4-4719-B852-79A7E900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867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2EA5E-48F7-4868-B30F-0F9BC09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38671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FINOPS &amp; COMPLIANCE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0E0F21-DD38-4D6A-B441-0A5D0616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2386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Cost attribution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Audit evidence</a:t>
            </a:r>
          </a:p>
          <a:p xmlns:a="http://schemas.openxmlformats.org/drawingml/2006/main">
            <a:pPr algn="l">
              <a:def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Ownership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8F222-7E98-4DD0-9E59-7711F03C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5095875"/>
            <a:ext cx="3429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E2E6CD-F6EE-4828-A318-710F433E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562600"/>
            <a:ext cx="10972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B582D1-A426-41B0-8499-8DC7FDA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CREATE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418A35-D3CF-4263-B575-19BA1DE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04BCDC-3AF2-4544-ADB5-AB59E5CC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9218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CONFIGURE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4E5D26-5455-4ED3-BF36-4B47787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D443B2-FA6E-4A85-89B7-B2AC8704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EVALUATE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FA01F6-6A03-47FA-8CA1-DEBCB83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661883-F85D-484F-83C1-03475BD0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075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VALIDATE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AE40E-EEC7-4DFB-98A0-01435755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0A8F5A-88AA-42D5-A804-CD7F6D78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DEV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631269-3921-4F55-90EC-102EF65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175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AFBCF0-46F3-4964-B877-2C3FD99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972EA4-713C-4CCD-B0BE-A22AAC7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5C3D39-1207-4EFA-9777-81B77B26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DFB514-4D51-447B-839B-6ACAB62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58197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D5E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BA4844-A877-4BD4-B14F-D6F957E1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6975" y="5762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OPERATE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1A1F26-0526-414B-90E5-BB7A679E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5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597A74-12C2-410F-AD6A-127AC9AC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KROGER • GEAP CONTROL PLANE</a:t>
            </a:r>
          </a:p>
        </p:txBody>
      </p:sp>
    </p:spTree>
    <p:extLst>
      <p:ext uri="{BB962C8B-B14F-4D97-AF65-F5344CB8AC3E}">
        <p14:creationId xmlns:p14="http://schemas.microsoft.com/office/powerpoint/2010/main" val="689153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71B30-B423-4D5F-B050-14B26D2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733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PLATFORM LEVERAGE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9D95F-3FE8-4799-B96C-477096D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382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Build once. Benefit every agent.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9ECDC-6A0B-4ECF-823F-F9310A8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409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D5E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74D5EA"/>
                </a:solidFill>
                <a:latin typeface="Nimbus Sans"/>
                <a:ea typeface="Nimbus Sans"/>
                <a:cs typeface="Nimbus Sans"/>
              </a:rPr>
              <a:t>Shared capability value compounds as adoption grows.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AA598-19EC-412E-A909-EFBA5D0A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68605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CONTROL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A2D44-3320-45B1-A8C4-38233D7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076450"/>
            <a:ext cx="32385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D25A-F2A8-4F7B-A49D-F5AFC42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D0A65-AB19-40D3-8A68-E882E98D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286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FASTER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E5484-F456-4D80-9DBF-77D90146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6860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Golden paths and reusable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69962-F4A1-4CED-9B6F-056B91AA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38389">
            <a:off x="2990850" y="3505200"/>
            <a:ext cx="124234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76B42-1CCB-4E79-A7DB-38F34A6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076450"/>
            <a:ext cx="32385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23619-F410-427A-A16A-66B2B3DE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0F198-75CE-4E5E-B83C-1CD4FB54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286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CONSISTENT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6C501-A14D-4AF5-A602-082679EA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6860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Common policy, security and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7F477-C425-47BD-97D1-D82B33F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20619">
            <a:off x="2990850" y="3505200"/>
            <a:ext cx="479836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62692-59BD-4381-8902-40F18C6B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000500"/>
            <a:ext cx="32385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4FC97-53F7-4349-AF20-8D310CD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4210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C0B3C-D809-438F-B234-2B8BB28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2100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LOWER DUPLICATION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5E1A8-5695-461D-B5DE-FDF945D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6101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Platform engineering solved once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9F0E8-9D22-4AB5-BDF9-368E59D9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95627">
            <a:off x="2990850" y="3505200"/>
            <a:ext cx="156836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D2AE0-5D71-4DA6-947F-EFBFB9C0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00500"/>
            <a:ext cx="32385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6C43F-51C6-4583-B1C0-E5E5977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4210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AAA64-1529-4407-878E-74D2A09E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42100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AUDITABLE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6C42F-F2B3-4DD8-85A4-8369E8A2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46101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2677A"/>
                </a:solidFill>
                <a:latin typeface="Nimbus Sans"/>
                <a:ea typeface="Nimbus Sans"/>
                <a:cs typeface="Nimbus Sans"/>
              </a:rPr>
              <a:t>Ownership, cost and change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89CC2-24FE-4EB1-9C98-F2C6A1F7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1913">
            <a:off x="2990850" y="3505200"/>
            <a:ext cx="4892921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D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06C14-13DA-4316-860E-EB58580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86450"/>
            <a:ext cx="109728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C882D-C72C-447E-95C8-85772AE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0007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5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GEAP provides managed AI services.  The Control Plane makes them standardized, governed and reusable for Kroger.</a:t>
            </a:r>
          </a:p>
        </p:txBody>
      </p:sp>
    </p:spTree>
    <p:extLst>
      <p:ext uri="{BB962C8B-B14F-4D97-AF65-F5344CB8AC3E}">
        <p14:creationId xmlns:p14="http://schemas.microsoft.com/office/powerpoint/2010/main" val="1769609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2026-09-17T03:30:14.0520000Z</dcterms:created>
  <dcterms:modified xsi:type="dcterms:W3CDTF">2026-09-17T03:30:14.0520000Z</dcterms:modified>
</coreProperties>
</file>